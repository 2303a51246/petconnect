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274"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154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6B35"/>
          </a:solidFill>
          <a:ln w="12700">
            <a:solidFill>
              <a:srgbClr val="FF6B35"/>
            </a:solidFill>
            <a:prstDash val="solid"/>
          </a:ln>
        </p:spPr>
      </p:sp>
      <p:sp>
        <p:nvSpPr>
          <p:cNvPr id="3" name="Shape 1"/>
          <p:cNvSpPr/>
          <p:nvPr/>
        </p:nvSpPr>
        <p:spPr>
          <a:xfrm>
            <a:off x="5486400" y="-914400"/>
            <a:ext cx="4114800" cy="4114800"/>
          </a:xfrm>
          <a:prstGeom prst="ellipse">
            <a:avLst/>
          </a:prstGeom>
          <a:solidFill>
            <a:srgbClr val="00C9A7">
              <a:alpha val="15000"/>
            </a:srgbClr>
          </a:solidFill>
          <a:ln w="12700">
            <a:solidFill>
              <a:srgbClr val="00C9A7">
                <a:alpha val="15000"/>
              </a:srgbClr>
            </a:solidFill>
            <a:prstDash val="solid"/>
          </a:ln>
        </p:spPr>
      </p:sp>
      <p:sp>
        <p:nvSpPr>
          <p:cNvPr id="4" name="Shape 2"/>
          <p:cNvSpPr/>
          <p:nvPr/>
        </p:nvSpPr>
        <p:spPr>
          <a:xfrm>
            <a:off x="6217920" y="-274320"/>
            <a:ext cx="2743200" cy="2743200"/>
          </a:xfrm>
          <a:prstGeom prst="ellipse">
            <a:avLst/>
          </a:prstGeom>
          <a:solidFill>
            <a:srgbClr val="FF6B35">
              <a:alpha val="12000"/>
            </a:srgbClr>
          </a:solidFill>
          <a:ln w="12700">
            <a:solidFill>
              <a:srgbClr val="FF6B35">
                <a:alpha val="12000"/>
              </a:srgbClr>
            </a:solidFill>
            <a:prstDash val="solid"/>
          </a:ln>
        </p:spPr>
      </p:sp>
      <p:sp>
        <p:nvSpPr>
          <p:cNvPr id="5" name="Text 3"/>
          <p:cNvSpPr/>
          <p:nvPr/>
        </p:nvSpPr>
        <p:spPr>
          <a:xfrm>
            <a:off x="411480" y="320040"/>
            <a:ext cx="4572000" cy="1005840"/>
          </a:xfrm>
          <a:prstGeom prst="rect">
            <a:avLst/>
          </a:prstGeom>
          <a:noFill/>
          <a:ln/>
        </p:spPr>
        <p:txBody>
          <a:bodyPr wrap="square" lIns="0" tIns="0" rIns="0" bIns="0" rtlCol="0" anchor="ctr"/>
          <a:lstStyle/>
          <a:p>
            <a:pPr marL="0" indent="0">
              <a:buNone/>
            </a:pPr>
            <a:r>
              <a:rPr lang="en-US" sz="8200" b="1" dirty="0">
                <a:solidFill>
                  <a:srgbClr val="FF6B35"/>
                </a:solidFill>
                <a:latin typeface="Georgia" pitchFamily="34" charset="0"/>
                <a:ea typeface="Georgia" pitchFamily="34" charset="-122"/>
                <a:cs typeface="Georgia" pitchFamily="34" charset="-120"/>
              </a:rPr>
              <a:t>Pet</a:t>
            </a:r>
            <a:endParaRPr lang="en-US" sz="8200" dirty="0"/>
          </a:p>
        </p:txBody>
      </p:sp>
      <p:sp>
        <p:nvSpPr>
          <p:cNvPr id="6" name="Text 4"/>
          <p:cNvSpPr/>
          <p:nvPr/>
        </p:nvSpPr>
        <p:spPr>
          <a:xfrm>
            <a:off x="411480" y="1097280"/>
            <a:ext cx="5029200" cy="1188720"/>
          </a:xfrm>
          <a:prstGeom prst="rect">
            <a:avLst/>
          </a:prstGeom>
          <a:noFill/>
          <a:ln/>
        </p:spPr>
        <p:txBody>
          <a:bodyPr wrap="square" lIns="0" tIns="0" rIns="0" bIns="0" rtlCol="0" anchor="ctr"/>
          <a:lstStyle/>
          <a:p>
            <a:pPr marL="0" indent="0">
              <a:buNone/>
            </a:pPr>
            <a:r>
              <a:rPr lang="en-US" sz="6800" b="1" dirty="0">
                <a:solidFill>
                  <a:srgbClr val="FFFFFF"/>
                </a:solidFill>
                <a:latin typeface="Georgia" pitchFamily="34" charset="0"/>
                <a:ea typeface="Georgia" pitchFamily="34" charset="-122"/>
                <a:cs typeface="Georgia" pitchFamily="34" charset="-120"/>
              </a:rPr>
              <a:t>Connect</a:t>
            </a:r>
            <a:endParaRPr lang="en-US" sz="6800" dirty="0"/>
          </a:p>
        </p:txBody>
      </p:sp>
      <p:sp>
        <p:nvSpPr>
          <p:cNvPr id="7" name="Text 5"/>
          <p:cNvSpPr/>
          <p:nvPr/>
        </p:nvSpPr>
        <p:spPr>
          <a:xfrm>
            <a:off x="411480" y="2359152"/>
            <a:ext cx="5303520" cy="365760"/>
          </a:xfrm>
          <a:prstGeom prst="rect">
            <a:avLst/>
          </a:prstGeom>
          <a:noFill/>
          <a:ln/>
        </p:spPr>
        <p:txBody>
          <a:bodyPr wrap="square" lIns="0" tIns="0" rIns="0" bIns="0" rtlCol="0" anchor="ctr"/>
          <a:lstStyle/>
          <a:p>
            <a:pPr marL="0" indent="0">
              <a:buNone/>
            </a:pPr>
            <a:r>
              <a:rPr lang="en-US" sz="1300" i="1" dirty="0">
                <a:solidFill>
                  <a:srgbClr val="00C9A7"/>
                </a:solidFill>
              </a:rPr>
              <a:t>Buy &amp; Adopt Pets — Marketplace Web Application</a:t>
            </a:r>
            <a:endParaRPr lang="en-US" sz="1300" dirty="0"/>
          </a:p>
        </p:txBody>
      </p:sp>
      <p:sp>
        <p:nvSpPr>
          <p:cNvPr id="8" name="Shape 6"/>
          <p:cNvSpPr/>
          <p:nvPr/>
        </p:nvSpPr>
        <p:spPr>
          <a:xfrm>
            <a:off x="411480" y="2798064"/>
            <a:ext cx="4114800" cy="50292"/>
          </a:xfrm>
          <a:prstGeom prst="rect">
            <a:avLst/>
          </a:prstGeom>
          <a:solidFill>
            <a:srgbClr val="FF6B35"/>
          </a:solidFill>
          <a:ln w="12700">
            <a:solidFill>
              <a:srgbClr val="FF6B35"/>
            </a:solidFill>
            <a:prstDash val="solid"/>
          </a:ln>
        </p:spPr>
      </p:sp>
      <p:sp>
        <p:nvSpPr>
          <p:cNvPr id="9" name="Text 7"/>
          <p:cNvSpPr/>
          <p:nvPr/>
        </p:nvSpPr>
        <p:spPr>
          <a:xfrm>
            <a:off x="411480" y="2926080"/>
            <a:ext cx="4572000" cy="274320"/>
          </a:xfrm>
          <a:prstGeom prst="rect">
            <a:avLst/>
          </a:prstGeom>
          <a:noFill/>
          <a:ln/>
        </p:spPr>
        <p:txBody>
          <a:bodyPr wrap="square" lIns="0" tIns="0" rIns="0" bIns="0" rtlCol="0" anchor="ctr"/>
          <a:lstStyle/>
          <a:p>
            <a:pPr marL="0" indent="0">
              <a:buNone/>
            </a:pPr>
            <a:r>
              <a:rPr lang="en-US" sz="1100" dirty="0">
                <a:solidFill>
                  <a:srgbClr val="CBD5E1"/>
                </a:solidFill>
              </a:rPr>
              <a:t>Project By:</a:t>
            </a:r>
            <a:endParaRPr lang="en-US" sz="1100" dirty="0"/>
          </a:p>
        </p:txBody>
      </p:sp>
      <p:sp>
        <p:nvSpPr>
          <p:cNvPr id="10" name="Text 8"/>
          <p:cNvSpPr/>
          <p:nvPr/>
        </p:nvSpPr>
        <p:spPr>
          <a:xfrm>
            <a:off x="411480" y="3182112"/>
            <a:ext cx="4572000" cy="347472"/>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a:t>
            </a:r>
            <a:r>
              <a:rPr lang="en-US" sz="1700" b="1" dirty="0" err="1">
                <a:solidFill>
                  <a:srgbClr val="FFFFFF"/>
                </a:solidFill>
                <a:latin typeface="Georgia" pitchFamily="34" charset="0"/>
                <a:ea typeface="Georgia" pitchFamily="34" charset="-122"/>
                <a:cs typeface="Georgia" pitchFamily="34" charset="-120"/>
              </a:rPr>
              <a:t>K.shiva</a:t>
            </a:r>
            <a:r>
              <a:rPr lang="en-US" sz="1700" b="1" dirty="0">
                <a:solidFill>
                  <a:srgbClr val="FFFFFF"/>
                </a:solidFill>
                <a:latin typeface="Georgia" pitchFamily="34" charset="0"/>
                <a:ea typeface="Georgia" pitchFamily="34" charset="-122"/>
                <a:cs typeface="Georgia" pitchFamily="34" charset="-120"/>
              </a:rPr>
              <a:t>]</a:t>
            </a:r>
            <a:endParaRPr lang="en-US" sz="1700" dirty="0"/>
          </a:p>
        </p:txBody>
      </p:sp>
      <p:sp>
        <p:nvSpPr>
          <p:cNvPr id="11" name="Text 9"/>
          <p:cNvSpPr/>
          <p:nvPr/>
        </p:nvSpPr>
        <p:spPr>
          <a:xfrm>
            <a:off x="411480" y="3511296"/>
            <a:ext cx="4572000" cy="274320"/>
          </a:xfrm>
          <a:prstGeom prst="rect">
            <a:avLst/>
          </a:prstGeom>
          <a:noFill/>
          <a:ln/>
        </p:spPr>
        <p:txBody>
          <a:bodyPr wrap="square" lIns="0" tIns="0" rIns="0" bIns="0" rtlCol="0" anchor="ctr"/>
          <a:lstStyle/>
          <a:p>
            <a:pPr marL="0" indent="0">
              <a:buNone/>
            </a:pPr>
            <a:r>
              <a:rPr lang="en-US" sz="1200" dirty="0">
                <a:solidFill>
                  <a:srgbClr val="CBD5E1"/>
                </a:solidFill>
              </a:rPr>
              <a:t>Department of Computer Science</a:t>
            </a:r>
            <a:endParaRPr lang="en-US" sz="1200" dirty="0"/>
          </a:p>
        </p:txBody>
      </p:sp>
      <p:sp>
        <p:nvSpPr>
          <p:cNvPr id="12" name="Shape 10"/>
          <p:cNvSpPr/>
          <p:nvPr/>
        </p:nvSpPr>
        <p:spPr>
          <a:xfrm>
            <a:off x="5650992" y="658368"/>
            <a:ext cx="1600200" cy="1389888"/>
          </a:xfrm>
          <a:prstGeom prst="rect">
            <a:avLst/>
          </a:prstGeom>
          <a:solidFill>
            <a:srgbClr val="1A2F4A"/>
          </a:solidFill>
          <a:ln w="19050">
            <a:solidFill>
              <a:srgbClr val="0097A7"/>
            </a:solidFill>
            <a:prstDash val="solid"/>
          </a:ln>
        </p:spPr>
      </p:sp>
      <p:sp>
        <p:nvSpPr>
          <p:cNvPr id="13" name="Text 11"/>
          <p:cNvSpPr/>
          <p:nvPr/>
        </p:nvSpPr>
        <p:spPr>
          <a:xfrm>
            <a:off x="5650992" y="731520"/>
            <a:ext cx="1600200" cy="47548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5650992" y="1207008"/>
            <a:ext cx="1600200" cy="292608"/>
          </a:xfrm>
          <a:prstGeom prst="rect">
            <a:avLst/>
          </a:prstGeom>
          <a:noFill/>
          <a:ln/>
        </p:spPr>
        <p:txBody>
          <a:bodyPr wrap="square" lIns="0" tIns="0" rIns="0" bIns="0" rtlCol="0" anchor="ctr"/>
          <a:lstStyle/>
          <a:p>
            <a:pPr marL="0" indent="0" algn="ctr">
              <a:buNone/>
            </a:pPr>
            <a:r>
              <a:rPr lang="en-US" sz="1000" b="1" dirty="0">
                <a:solidFill>
                  <a:srgbClr val="0097A7"/>
                </a:solidFill>
              </a:rPr>
              <a:t>Buy &amp; Sell</a:t>
            </a:r>
            <a:endParaRPr lang="en-US" sz="1000" dirty="0"/>
          </a:p>
        </p:txBody>
      </p:sp>
      <p:sp>
        <p:nvSpPr>
          <p:cNvPr id="15" name="Text 13"/>
          <p:cNvSpPr/>
          <p:nvPr/>
        </p:nvSpPr>
        <p:spPr>
          <a:xfrm>
            <a:off x="5650992" y="1499616"/>
            <a:ext cx="1600200" cy="457200"/>
          </a:xfrm>
          <a:prstGeom prst="rect">
            <a:avLst/>
          </a:prstGeom>
          <a:noFill/>
          <a:ln/>
        </p:spPr>
        <p:txBody>
          <a:bodyPr wrap="square" lIns="0" tIns="0" rIns="0" bIns="0" rtlCol="0" anchor="ctr"/>
          <a:lstStyle/>
          <a:p>
            <a:pPr marL="0" indent="0" algn="ctr">
              <a:buNone/>
            </a:pPr>
            <a:r>
              <a:rPr lang="en-US" sz="850" dirty="0">
                <a:solidFill>
                  <a:srgbClr val="CBD5E1"/>
                </a:solidFill>
              </a:rPr>
              <a:t>Pet Listings</a:t>
            </a:r>
            <a:endParaRPr lang="en-US" sz="850" dirty="0"/>
          </a:p>
        </p:txBody>
      </p:sp>
      <p:sp>
        <p:nvSpPr>
          <p:cNvPr id="16" name="Shape 14"/>
          <p:cNvSpPr/>
          <p:nvPr/>
        </p:nvSpPr>
        <p:spPr>
          <a:xfrm>
            <a:off x="7370064" y="658368"/>
            <a:ext cx="1600200" cy="1389888"/>
          </a:xfrm>
          <a:prstGeom prst="rect">
            <a:avLst/>
          </a:prstGeom>
          <a:solidFill>
            <a:srgbClr val="1A2F4A"/>
          </a:solidFill>
          <a:ln w="19050">
            <a:solidFill>
              <a:srgbClr val="00C9A7"/>
            </a:solidFill>
            <a:prstDash val="solid"/>
          </a:ln>
        </p:spPr>
      </p:sp>
      <p:sp>
        <p:nvSpPr>
          <p:cNvPr id="17" name="Text 15"/>
          <p:cNvSpPr/>
          <p:nvPr/>
        </p:nvSpPr>
        <p:spPr>
          <a:xfrm>
            <a:off x="7370064" y="731520"/>
            <a:ext cx="1600200" cy="47548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7370064" y="1207008"/>
            <a:ext cx="1600200" cy="292608"/>
          </a:xfrm>
          <a:prstGeom prst="rect">
            <a:avLst/>
          </a:prstGeom>
          <a:noFill/>
          <a:ln/>
        </p:spPr>
        <p:txBody>
          <a:bodyPr wrap="square" lIns="0" tIns="0" rIns="0" bIns="0" rtlCol="0" anchor="ctr"/>
          <a:lstStyle/>
          <a:p>
            <a:pPr marL="0" indent="0" algn="ctr">
              <a:buNone/>
            </a:pPr>
            <a:r>
              <a:rPr lang="en-US" sz="1000" b="1" dirty="0">
                <a:solidFill>
                  <a:srgbClr val="00C9A7"/>
                </a:solidFill>
              </a:rPr>
              <a:t>Live Chat</a:t>
            </a:r>
            <a:endParaRPr lang="en-US" sz="1000" dirty="0"/>
          </a:p>
        </p:txBody>
      </p:sp>
      <p:sp>
        <p:nvSpPr>
          <p:cNvPr id="19" name="Text 17"/>
          <p:cNvSpPr/>
          <p:nvPr/>
        </p:nvSpPr>
        <p:spPr>
          <a:xfrm>
            <a:off x="7370064" y="1499616"/>
            <a:ext cx="1600200" cy="457200"/>
          </a:xfrm>
          <a:prstGeom prst="rect">
            <a:avLst/>
          </a:prstGeom>
          <a:noFill/>
          <a:ln/>
        </p:spPr>
        <p:txBody>
          <a:bodyPr wrap="square" lIns="0" tIns="0" rIns="0" bIns="0" rtlCol="0" anchor="ctr"/>
          <a:lstStyle/>
          <a:p>
            <a:pPr marL="0" indent="0" algn="ctr">
              <a:buNone/>
            </a:pPr>
            <a:r>
              <a:rPr lang="en-US" sz="850" dirty="0">
                <a:solidFill>
                  <a:srgbClr val="CBD5E1"/>
                </a:solidFill>
              </a:rPr>
              <a:t>Direct Messaging</a:t>
            </a:r>
            <a:endParaRPr lang="en-US" sz="850" dirty="0"/>
          </a:p>
        </p:txBody>
      </p:sp>
      <p:sp>
        <p:nvSpPr>
          <p:cNvPr id="20" name="Shape 18"/>
          <p:cNvSpPr/>
          <p:nvPr/>
        </p:nvSpPr>
        <p:spPr>
          <a:xfrm>
            <a:off x="5650992" y="2194560"/>
            <a:ext cx="1600200" cy="1389888"/>
          </a:xfrm>
          <a:prstGeom prst="rect">
            <a:avLst/>
          </a:prstGeom>
          <a:solidFill>
            <a:srgbClr val="1A2F4A"/>
          </a:solidFill>
          <a:ln w="19050">
            <a:solidFill>
              <a:srgbClr val="FF6B35"/>
            </a:solidFill>
            <a:prstDash val="solid"/>
          </a:ln>
        </p:spPr>
      </p:sp>
      <p:sp>
        <p:nvSpPr>
          <p:cNvPr id="21" name="Text 19"/>
          <p:cNvSpPr/>
          <p:nvPr/>
        </p:nvSpPr>
        <p:spPr>
          <a:xfrm>
            <a:off x="5650992" y="2267712"/>
            <a:ext cx="1600200" cy="47548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5650992" y="2743200"/>
            <a:ext cx="1600200" cy="292608"/>
          </a:xfrm>
          <a:prstGeom prst="rect">
            <a:avLst/>
          </a:prstGeom>
          <a:noFill/>
          <a:ln/>
        </p:spPr>
        <p:txBody>
          <a:bodyPr wrap="square" lIns="0" tIns="0" rIns="0" bIns="0" rtlCol="0" anchor="ctr"/>
          <a:lstStyle/>
          <a:p>
            <a:pPr marL="0" indent="0" algn="ctr">
              <a:buNone/>
            </a:pPr>
            <a:r>
              <a:rPr lang="en-US" sz="1000" b="1" dirty="0">
                <a:solidFill>
                  <a:srgbClr val="FF6B35"/>
                </a:solidFill>
              </a:rPr>
              <a:t>Secure Auth</a:t>
            </a:r>
            <a:endParaRPr lang="en-US" sz="1000" dirty="0"/>
          </a:p>
        </p:txBody>
      </p:sp>
      <p:sp>
        <p:nvSpPr>
          <p:cNvPr id="23" name="Text 21"/>
          <p:cNvSpPr/>
          <p:nvPr/>
        </p:nvSpPr>
        <p:spPr>
          <a:xfrm>
            <a:off x="5650992" y="3035808"/>
            <a:ext cx="1600200" cy="457200"/>
          </a:xfrm>
          <a:prstGeom prst="rect">
            <a:avLst/>
          </a:prstGeom>
          <a:noFill/>
          <a:ln/>
        </p:spPr>
        <p:txBody>
          <a:bodyPr wrap="square" lIns="0" tIns="0" rIns="0" bIns="0" rtlCol="0" anchor="ctr"/>
          <a:lstStyle/>
          <a:p>
            <a:pPr marL="0" indent="0" algn="ctr">
              <a:buNone/>
            </a:pPr>
            <a:r>
              <a:rPr lang="en-US" sz="850" dirty="0">
                <a:solidFill>
                  <a:srgbClr val="CBD5E1"/>
                </a:solidFill>
              </a:rPr>
              <a:t>Login + Reset Pwd</a:t>
            </a:r>
            <a:endParaRPr lang="en-US" sz="850" dirty="0"/>
          </a:p>
        </p:txBody>
      </p:sp>
      <p:sp>
        <p:nvSpPr>
          <p:cNvPr id="24" name="Shape 22"/>
          <p:cNvSpPr/>
          <p:nvPr/>
        </p:nvSpPr>
        <p:spPr>
          <a:xfrm>
            <a:off x="7370064" y="2194560"/>
            <a:ext cx="1600200" cy="1389888"/>
          </a:xfrm>
          <a:prstGeom prst="rect">
            <a:avLst/>
          </a:prstGeom>
          <a:solidFill>
            <a:srgbClr val="1A2F4A"/>
          </a:solidFill>
          <a:ln w="19050">
            <a:solidFill>
              <a:srgbClr val="7C4DFF"/>
            </a:solidFill>
            <a:prstDash val="solid"/>
          </a:ln>
        </p:spPr>
      </p:sp>
      <p:sp>
        <p:nvSpPr>
          <p:cNvPr id="25" name="Text 23"/>
          <p:cNvSpPr/>
          <p:nvPr/>
        </p:nvSpPr>
        <p:spPr>
          <a:xfrm>
            <a:off x="7370064" y="2267712"/>
            <a:ext cx="1600200" cy="47548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7370064" y="2743200"/>
            <a:ext cx="1600200" cy="292608"/>
          </a:xfrm>
          <a:prstGeom prst="rect">
            <a:avLst/>
          </a:prstGeom>
          <a:noFill/>
          <a:ln/>
        </p:spPr>
        <p:txBody>
          <a:bodyPr wrap="square" lIns="0" tIns="0" rIns="0" bIns="0" rtlCol="0" anchor="ctr"/>
          <a:lstStyle/>
          <a:p>
            <a:pPr marL="0" indent="0" algn="ctr">
              <a:buNone/>
            </a:pPr>
            <a:r>
              <a:rPr lang="en-US" sz="1000" b="1" dirty="0">
                <a:solidFill>
                  <a:srgbClr val="7C4DFF"/>
                </a:solidFill>
              </a:rPr>
              <a:t>User Dashboard</a:t>
            </a:r>
            <a:endParaRPr lang="en-US" sz="1000" dirty="0"/>
          </a:p>
        </p:txBody>
      </p:sp>
      <p:sp>
        <p:nvSpPr>
          <p:cNvPr id="27" name="Text 25"/>
          <p:cNvSpPr/>
          <p:nvPr/>
        </p:nvSpPr>
        <p:spPr>
          <a:xfrm>
            <a:off x="7370064" y="3035808"/>
            <a:ext cx="1600200" cy="457200"/>
          </a:xfrm>
          <a:prstGeom prst="rect">
            <a:avLst/>
          </a:prstGeom>
          <a:noFill/>
          <a:ln/>
        </p:spPr>
        <p:txBody>
          <a:bodyPr wrap="square" lIns="0" tIns="0" rIns="0" bIns="0" rtlCol="0" anchor="ctr"/>
          <a:lstStyle/>
          <a:p>
            <a:pPr marL="0" indent="0" algn="ctr">
              <a:buNone/>
            </a:pPr>
            <a:r>
              <a:rPr lang="en-US" sz="850" dirty="0">
                <a:solidFill>
                  <a:srgbClr val="CBD5E1"/>
                </a:solidFill>
              </a:rPr>
              <a:t>My Ads + Account</a:t>
            </a:r>
            <a:endParaRPr lang="en-US" sz="850" dirty="0"/>
          </a:p>
        </p:txBody>
      </p:sp>
      <p:sp>
        <p:nvSpPr>
          <p:cNvPr id="28" name="Shape 26"/>
          <p:cNvSpPr/>
          <p:nvPr/>
        </p:nvSpPr>
        <p:spPr>
          <a:xfrm>
            <a:off x="0" y="4818888"/>
            <a:ext cx="9144000" cy="324612"/>
          </a:xfrm>
          <a:prstGeom prst="rect">
            <a:avLst/>
          </a:prstGeom>
          <a:solidFill>
            <a:srgbClr val="0D2137"/>
          </a:solidFill>
          <a:ln w="12700">
            <a:solidFill>
              <a:srgbClr val="0D2137"/>
            </a:solidFill>
            <a:prstDash val="solid"/>
          </a:ln>
        </p:spPr>
      </p:sp>
      <p:sp>
        <p:nvSpPr>
          <p:cNvPr id="29" name="Text 27"/>
          <p:cNvSpPr/>
          <p:nvPr/>
        </p:nvSpPr>
        <p:spPr>
          <a:xfrm>
            <a:off x="0" y="4818888"/>
            <a:ext cx="9144000" cy="324612"/>
          </a:xfrm>
          <a:prstGeom prst="rect">
            <a:avLst/>
          </a:prstGeom>
          <a:noFill/>
          <a:ln/>
        </p:spPr>
        <p:txBody>
          <a:bodyPr wrap="square" lIns="0" tIns="0" rIns="0" bIns="0" rtlCol="0" anchor="ctr"/>
          <a:lstStyle/>
          <a:p>
            <a:pPr marL="0" indent="0" algn="ctr">
              <a:buNone/>
            </a:pPr>
            <a:r>
              <a:rPr lang="en-US" sz="1050" dirty="0">
                <a:solidFill>
                  <a:srgbClr val="CBD5E1"/>
                </a:solidFill>
              </a:rPr>
              <a:t>Built with Node.js  ·  MongoDB  ·  Express  ·  </a:t>
            </a:r>
            <a:r>
              <a:rPr lang="en-US" sz="1050">
                <a:solidFill>
                  <a:srgbClr val="CBD5E1"/>
                </a:solidFill>
              </a:rPr>
              <a:t>EJS  </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2  |  INTRODUCTION</a:t>
            </a:r>
            <a:endParaRPr lang="en-US" sz="900" dirty="0"/>
          </a:p>
        </p:txBody>
      </p:sp>
      <p:sp>
        <p:nvSpPr>
          <p:cNvPr id="6" name="Text 4"/>
          <p:cNvSpPr/>
          <p:nvPr/>
        </p:nvSpPr>
        <p:spPr>
          <a:xfrm>
            <a:off x="320040" y="594360"/>
            <a:ext cx="8503920" cy="777240"/>
          </a:xfrm>
          <a:prstGeom prst="rect">
            <a:avLst/>
          </a:prstGeom>
          <a:noFill/>
          <a:ln/>
        </p:spPr>
        <p:txBody>
          <a:bodyPr wrap="square" lIns="0" tIns="0" rIns="0" bIns="0" rtlCol="0" anchor="ctr"/>
          <a:lstStyle/>
          <a:p>
            <a:pPr marL="0" indent="0">
              <a:buNone/>
            </a:pPr>
            <a:r>
              <a:rPr lang="en-US" sz="3600" b="1" dirty="0">
                <a:solidFill>
                  <a:srgbClr val="0B1F3A"/>
                </a:solidFill>
                <a:latin typeface="Georgia" pitchFamily="34" charset="0"/>
                <a:ea typeface="Georgia" pitchFamily="34" charset="-122"/>
                <a:cs typeface="Georgia" pitchFamily="34" charset="-120"/>
              </a:rPr>
              <a:t>Introduction to the Project</a:t>
            </a:r>
            <a:endParaRPr lang="en-US" sz="3600" dirty="0"/>
          </a:p>
        </p:txBody>
      </p:sp>
      <p:sp>
        <p:nvSpPr>
          <p:cNvPr id="7" name="Text 5"/>
          <p:cNvSpPr/>
          <p:nvPr/>
        </p:nvSpPr>
        <p:spPr>
          <a:xfrm>
            <a:off x="320040" y="1463040"/>
            <a:ext cx="5029200" cy="822960"/>
          </a:xfrm>
          <a:prstGeom prst="rect">
            <a:avLst/>
          </a:prstGeom>
          <a:noFill/>
          <a:ln/>
        </p:spPr>
        <p:txBody>
          <a:bodyPr wrap="square" lIns="0" tIns="0" rIns="0" bIns="0" rtlCol="0" anchor="ctr"/>
          <a:lstStyle/>
          <a:p>
            <a:pPr marL="0" indent="0">
              <a:buNone/>
            </a:pPr>
            <a:r>
              <a:rPr lang="en-US" sz="1200" dirty="0">
                <a:solidFill>
                  <a:srgbClr val="64748B"/>
                </a:solidFill>
              </a:rPr>
              <a:t>PetConnect is a full-stack web marketplace platform that enables users to buy, sell, and adopt pets online — built entirely using Claude AI (Anthropic) as the coding assistant.</a:t>
            </a:r>
            <a:endParaRPr lang="en-US" sz="1200" dirty="0"/>
          </a:p>
        </p:txBody>
      </p:sp>
      <p:sp>
        <p:nvSpPr>
          <p:cNvPr id="8" name="Text 6"/>
          <p:cNvSpPr/>
          <p:nvPr/>
        </p:nvSpPr>
        <p:spPr>
          <a:xfrm>
            <a:off x="320040" y="2359152"/>
            <a:ext cx="5029200" cy="292608"/>
          </a:xfrm>
          <a:prstGeom prst="rect">
            <a:avLst/>
          </a:prstGeom>
          <a:noFill/>
          <a:ln/>
        </p:spPr>
        <p:txBody>
          <a:bodyPr wrap="square" lIns="0" tIns="0" rIns="0" bIns="0" rtlCol="0" anchor="ctr"/>
          <a:lstStyle/>
          <a:p>
            <a:pPr marL="0" indent="0">
              <a:buNone/>
            </a:pPr>
            <a:r>
              <a:rPr lang="en-US" sz="1300" b="1" dirty="0">
                <a:solidFill>
                  <a:srgbClr val="0B1F3A"/>
                </a:solidFill>
              </a:rPr>
              <a:t>Key Features:</a:t>
            </a:r>
            <a:endParaRPr lang="en-US" sz="1300" dirty="0"/>
          </a:p>
        </p:txBody>
      </p:sp>
      <p:sp>
        <p:nvSpPr>
          <p:cNvPr id="9" name="Text 7"/>
          <p:cNvSpPr/>
          <p:nvPr/>
        </p:nvSpPr>
        <p:spPr>
          <a:xfrm>
            <a:off x="411480" y="2697480"/>
            <a:ext cx="4846320" cy="310896"/>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rPr>
              <a:t>User registration, login, forgot password with reset token</a:t>
            </a:r>
            <a:endParaRPr lang="en-US" sz="1100" dirty="0"/>
          </a:p>
        </p:txBody>
      </p:sp>
      <p:sp>
        <p:nvSpPr>
          <p:cNvPr id="10" name="Text 8"/>
          <p:cNvSpPr/>
          <p:nvPr/>
        </p:nvSpPr>
        <p:spPr>
          <a:xfrm>
            <a:off x="411480" y="3026664"/>
            <a:ext cx="4846320" cy="310896"/>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rPr>
              <a:t>Post pet ads with up to 6 photos — full-screen gallery view</a:t>
            </a:r>
            <a:endParaRPr lang="en-US" sz="1100" dirty="0"/>
          </a:p>
        </p:txBody>
      </p:sp>
      <p:sp>
        <p:nvSpPr>
          <p:cNvPr id="11" name="Text 9"/>
          <p:cNvSpPr/>
          <p:nvPr/>
        </p:nvSpPr>
        <p:spPr>
          <a:xfrm>
            <a:off x="411480" y="3355848"/>
            <a:ext cx="4846320" cy="310896"/>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rPr>
              <a:t>Buyer-seller chat system with message inbox</a:t>
            </a:r>
            <a:endParaRPr lang="en-US" sz="1100" dirty="0"/>
          </a:p>
        </p:txBody>
      </p:sp>
      <p:sp>
        <p:nvSpPr>
          <p:cNvPr id="12" name="Text 10"/>
          <p:cNvSpPr/>
          <p:nvPr/>
        </p:nvSpPr>
        <p:spPr>
          <a:xfrm>
            <a:off x="411480" y="3685032"/>
            <a:ext cx="4846320" cy="310896"/>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rPr>
              <a:t>Wishlist, budget filter, category search</a:t>
            </a:r>
            <a:endParaRPr lang="en-US" sz="1100" dirty="0"/>
          </a:p>
        </p:txBody>
      </p:sp>
      <p:sp>
        <p:nvSpPr>
          <p:cNvPr id="13" name="Text 11"/>
          <p:cNvSpPr/>
          <p:nvPr/>
        </p:nvSpPr>
        <p:spPr>
          <a:xfrm>
            <a:off x="411480" y="4014216"/>
            <a:ext cx="4846320" cy="310896"/>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rPr>
              <a:t>My Ads dashboard — edit, delete, mark as sold/adopted</a:t>
            </a:r>
            <a:endParaRPr lang="en-US" sz="1100" dirty="0"/>
          </a:p>
        </p:txBody>
      </p:sp>
      <p:sp>
        <p:nvSpPr>
          <p:cNvPr id="14" name="Text 12"/>
          <p:cNvSpPr/>
          <p:nvPr/>
        </p:nvSpPr>
        <p:spPr>
          <a:xfrm>
            <a:off x="411480" y="4343400"/>
            <a:ext cx="4846320" cy="310896"/>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rPr>
              <a:t>Admin panel — manage users, listings, feature ads</a:t>
            </a:r>
            <a:endParaRPr lang="en-US" sz="1100" dirty="0"/>
          </a:p>
        </p:txBody>
      </p:sp>
      <p:sp>
        <p:nvSpPr>
          <p:cNvPr id="15" name="Shape 13"/>
          <p:cNvSpPr/>
          <p:nvPr/>
        </p:nvSpPr>
        <p:spPr>
          <a:xfrm>
            <a:off x="5715000" y="1417320"/>
            <a:ext cx="3108960" cy="749808"/>
          </a:xfrm>
          <a:prstGeom prst="rect">
            <a:avLst/>
          </a:prstGeom>
          <a:solidFill>
            <a:srgbClr val="0B1F3A"/>
          </a:solidFill>
          <a:ln w="12700">
            <a:solidFill>
              <a:srgbClr val="0B1F3A"/>
            </a:solidFill>
            <a:prstDash val="solid"/>
          </a:ln>
        </p:spPr>
      </p:sp>
      <p:sp>
        <p:nvSpPr>
          <p:cNvPr id="16" name="Text 14"/>
          <p:cNvSpPr/>
          <p:nvPr/>
        </p:nvSpPr>
        <p:spPr>
          <a:xfrm>
            <a:off x="5742432" y="1463040"/>
            <a:ext cx="1005840" cy="658368"/>
          </a:xfrm>
          <a:prstGeom prst="rect">
            <a:avLst/>
          </a:prstGeom>
          <a:noFill/>
          <a:ln/>
        </p:spPr>
        <p:txBody>
          <a:bodyPr wrap="square" lIns="0" tIns="0" rIns="0" bIns="0" rtlCol="0" anchor="ctr"/>
          <a:lstStyle/>
          <a:p>
            <a:pPr marL="0" indent="0" algn="ctr">
              <a:buNone/>
            </a:pPr>
            <a:r>
              <a:rPr lang="en-US" sz="2400" b="1" dirty="0">
                <a:solidFill>
                  <a:srgbClr val="00C9A7"/>
                </a:solidFill>
                <a:latin typeface="Georgia" pitchFamily="34" charset="0"/>
                <a:ea typeface="Georgia" pitchFamily="34" charset="-122"/>
                <a:cs typeface="Georgia" pitchFamily="34" charset="-120"/>
              </a:rPr>
              <a:t>13</a:t>
            </a:r>
            <a:endParaRPr lang="en-US" sz="2400" dirty="0"/>
          </a:p>
        </p:txBody>
      </p:sp>
      <p:sp>
        <p:nvSpPr>
          <p:cNvPr id="17" name="Text 15"/>
          <p:cNvSpPr/>
          <p:nvPr/>
        </p:nvSpPr>
        <p:spPr>
          <a:xfrm>
            <a:off x="6784848" y="1463040"/>
            <a:ext cx="1965960" cy="658368"/>
          </a:xfrm>
          <a:prstGeom prst="rect">
            <a:avLst/>
          </a:prstGeom>
          <a:noFill/>
          <a:ln/>
        </p:spPr>
        <p:txBody>
          <a:bodyPr wrap="square" lIns="0" tIns="0" rIns="0" bIns="0" rtlCol="0" anchor="ctr"/>
          <a:lstStyle/>
          <a:p>
            <a:pPr marL="0" indent="0">
              <a:buNone/>
            </a:pPr>
            <a:r>
              <a:rPr lang="en-US" sz="1200" dirty="0">
                <a:solidFill>
                  <a:srgbClr val="FFFFFF"/>
                </a:solidFill>
              </a:rPr>
              <a:t>Web Pages</a:t>
            </a:r>
            <a:endParaRPr lang="en-US" sz="1200" dirty="0"/>
          </a:p>
        </p:txBody>
      </p:sp>
      <p:sp>
        <p:nvSpPr>
          <p:cNvPr id="18" name="Shape 16"/>
          <p:cNvSpPr/>
          <p:nvPr/>
        </p:nvSpPr>
        <p:spPr>
          <a:xfrm>
            <a:off x="5715000" y="2304288"/>
            <a:ext cx="3108960" cy="749808"/>
          </a:xfrm>
          <a:prstGeom prst="rect">
            <a:avLst/>
          </a:prstGeom>
          <a:solidFill>
            <a:srgbClr val="0097A7"/>
          </a:solidFill>
          <a:ln w="12700">
            <a:solidFill>
              <a:srgbClr val="0097A7"/>
            </a:solidFill>
            <a:prstDash val="solid"/>
          </a:ln>
        </p:spPr>
      </p:sp>
      <p:sp>
        <p:nvSpPr>
          <p:cNvPr id="19" name="Text 17"/>
          <p:cNvSpPr/>
          <p:nvPr/>
        </p:nvSpPr>
        <p:spPr>
          <a:xfrm>
            <a:off x="5742432" y="2350008"/>
            <a:ext cx="1005840" cy="658368"/>
          </a:xfrm>
          <a:prstGeom prst="rect">
            <a:avLst/>
          </a:prstGeom>
          <a:noFill/>
          <a:ln/>
        </p:spPr>
        <p:txBody>
          <a:bodyPr wrap="square" lIns="0" tIns="0" rIns="0" bIns="0" rtlCol="0" anchor="ctr"/>
          <a:lstStyle/>
          <a:p>
            <a:pPr marL="0" indent="0" algn="ctr">
              <a:buNone/>
            </a:pPr>
            <a:r>
              <a:rPr lang="en-US" sz="2400" b="1" dirty="0">
                <a:solidFill>
                  <a:srgbClr val="00C9A7"/>
                </a:solidFill>
                <a:latin typeface="Georgia" pitchFamily="34" charset="0"/>
                <a:ea typeface="Georgia" pitchFamily="34" charset="-122"/>
                <a:cs typeface="Georgia" pitchFamily="34" charset="-120"/>
              </a:rPr>
              <a:t>3</a:t>
            </a:r>
            <a:endParaRPr lang="en-US" sz="2400" dirty="0"/>
          </a:p>
        </p:txBody>
      </p:sp>
      <p:sp>
        <p:nvSpPr>
          <p:cNvPr id="20" name="Text 18"/>
          <p:cNvSpPr/>
          <p:nvPr/>
        </p:nvSpPr>
        <p:spPr>
          <a:xfrm>
            <a:off x="6784848" y="2350008"/>
            <a:ext cx="1965960" cy="658368"/>
          </a:xfrm>
          <a:prstGeom prst="rect">
            <a:avLst/>
          </a:prstGeom>
          <a:noFill/>
          <a:ln/>
        </p:spPr>
        <p:txBody>
          <a:bodyPr wrap="square" lIns="0" tIns="0" rIns="0" bIns="0" rtlCol="0" anchor="ctr"/>
          <a:lstStyle/>
          <a:p>
            <a:pPr marL="0" indent="0">
              <a:buNone/>
            </a:pPr>
            <a:r>
              <a:rPr lang="en-US" sz="1200" dirty="0">
                <a:solidFill>
                  <a:srgbClr val="FFFFFF"/>
                </a:solidFill>
              </a:rPr>
              <a:t>DB Models</a:t>
            </a:r>
            <a:endParaRPr lang="en-US" sz="1200" dirty="0"/>
          </a:p>
        </p:txBody>
      </p:sp>
      <p:sp>
        <p:nvSpPr>
          <p:cNvPr id="21" name="Shape 19"/>
          <p:cNvSpPr/>
          <p:nvPr/>
        </p:nvSpPr>
        <p:spPr>
          <a:xfrm>
            <a:off x="5715000" y="3191256"/>
            <a:ext cx="3108960" cy="749808"/>
          </a:xfrm>
          <a:prstGeom prst="rect">
            <a:avLst/>
          </a:prstGeom>
          <a:solidFill>
            <a:srgbClr val="FF6B35"/>
          </a:solidFill>
          <a:ln w="12700">
            <a:solidFill>
              <a:srgbClr val="FF6B35"/>
            </a:solidFill>
            <a:prstDash val="solid"/>
          </a:ln>
        </p:spPr>
      </p:sp>
      <p:sp>
        <p:nvSpPr>
          <p:cNvPr id="22" name="Text 20"/>
          <p:cNvSpPr/>
          <p:nvPr/>
        </p:nvSpPr>
        <p:spPr>
          <a:xfrm>
            <a:off x="5742432" y="3236976"/>
            <a:ext cx="1005840" cy="658368"/>
          </a:xfrm>
          <a:prstGeom prst="rect">
            <a:avLst/>
          </a:prstGeom>
          <a:noFill/>
          <a:ln/>
        </p:spPr>
        <p:txBody>
          <a:bodyPr wrap="square" lIns="0" tIns="0" rIns="0" bIns="0" rtlCol="0" anchor="ctr"/>
          <a:lstStyle/>
          <a:p>
            <a:pPr marL="0" indent="0" algn="ctr">
              <a:buNone/>
            </a:pPr>
            <a:r>
              <a:rPr lang="en-US" sz="2400" b="1" dirty="0">
                <a:solidFill>
                  <a:srgbClr val="00C9A7"/>
                </a:solidFill>
                <a:latin typeface="Georgia" pitchFamily="34" charset="0"/>
                <a:ea typeface="Georgia" pitchFamily="34" charset="-122"/>
                <a:cs typeface="Georgia" pitchFamily="34" charset="-120"/>
              </a:rPr>
              <a:t>REST</a:t>
            </a:r>
            <a:endParaRPr lang="en-US" sz="2400" dirty="0"/>
          </a:p>
        </p:txBody>
      </p:sp>
      <p:sp>
        <p:nvSpPr>
          <p:cNvPr id="23" name="Text 21"/>
          <p:cNvSpPr/>
          <p:nvPr/>
        </p:nvSpPr>
        <p:spPr>
          <a:xfrm>
            <a:off x="6784848" y="3236976"/>
            <a:ext cx="1965960" cy="658368"/>
          </a:xfrm>
          <a:prstGeom prst="rect">
            <a:avLst/>
          </a:prstGeom>
          <a:noFill/>
          <a:ln/>
        </p:spPr>
        <p:txBody>
          <a:bodyPr wrap="square" lIns="0" tIns="0" rIns="0" bIns="0" rtlCol="0" anchor="ctr"/>
          <a:lstStyle/>
          <a:p>
            <a:pPr marL="0" indent="0">
              <a:buNone/>
            </a:pPr>
            <a:r>
              <a:rPr lang="en-US" sz="1200" dirty="0">
                <a:solidFill>
                  <a:srgbClr val="FFFFFF"/>
                </a:solidFill>
              </a:rPr>
              <a:t>API Architecture</a:t>
            </a:r>
            <a:endParaRPr lang="en-US" sz="1200" dirty="0"/>
          </a:p>
        </p:txBody>
      </p:sp>
      <p:sp>
        <p:nvSpPr>
          <p:cNvPr id="24" name="Shape 22"/>
          <p:cNvSpPr/>
          <p:nvPr/>
        </p:nvSpPr>
        <p:spPr>
          <a:xfrm>
            <a:off x="5715000" y="4078224"/>
            <a:ext cx="3108960" cy="749808"/>
          </a:xfrm>
          <a:prstGeom prst="rect">
            <a:avLst/>
          </a:prstGeom>
          <a:solidFill>
            <a:srgbClr val="7C4DFF"/>
          </a:solidFill>
          <a:ln w="12700">
            <a:solidFill>
              <a:srgbClr val="7C4DFF"/>
            </a:solidFill>
            <a:prstDash val="solid"/>
          </a:ln>
        </p:spPr>
      </p:sp>
      <p:sp>
        <p:nvSpPr>
          <p:cNvPr id="25" name="Text 23"/>
          <p:cNvSpPr/>
          <p:nvPr/>
        </p:nvSpPr>
        <p:spPr>
          <a:xfrm>
            <a:off x="5742432" y="4123944"/>
            <a:ext cx="1005840" cy="658368"/>
          </a:xfrm>
          <a:prstGeom prst="rect">
            <a:avLst/>
          </a:prstGeom>
          <a:noFill/>
          <a:ln/>
        </p:spPr>
        <p:txBody>
          <a:bodyPr wrap="square" lIns="0" tIns="0" rIns="0" bIns="0" rtlCol="0" anchor="ctr"/>
          <a:lstStyle/>
          <a:p>
            <a:pPr marL="0" indent="0" algn="ctr">
              <a:buNone/>
            </a:pPr>
            <a:r>
              <a:rPr lang="en-US" sz="2400" b="1" dirty="0">
                <a:solidFill>
                  <a:srgbClr val="00C9A7"/>
                </a:solidFill>
                <a:latin typeface="Georgia" pitchFamily="34" charset="0"/>
                <a:ea typeface="Georgia" pitchFamily="34" charset="-122"/>
                <a:cs typeface="Georgia" pitchFamily="34" charset="-120"/>
              </a:rPr>
              <a:t>100%</a:t>
            </a:r>
            <a:endParaRPr lang="en-US" sz="2400" dirty="0"/>
          </a:p>
        </p:txBody>
      </p:sp>
      <p:sp>
        <p:nvSpPr>
          <p:cNvPr id="26" name="Text 24"/>
          <p:cNvSpPr/>
          <p:nvPr/>
        </p:nvSpPr>
        <p:spPr>
          <a:xfrm>
            <a:off x="6784848" y="4123944"/>
            <a:ext cx="1965960" cy="658368"/>
          </a:xfrm>
          <a:prstGeom prst="rect">
            <a:avLst/>
          </a:prstGeom>
          <a:noFill/>
          <a:ln/>
        </p:spPr>
        <p:txBody>
          <a:bodyPr wrap="square" lIns="0" tIns="0" rIns="0" bIns="0" rtlCol="0" anchor="ctr"/>
          <a:lstStyle/>
          <a:p>
            <a:pPr marL="0" indent="0">
              <a:buNone/>
            </a:pPr>
            <a:r>
              <a:rPr lang="en-US" sz="1200" dirty="0">
                <a:solidFill>
                  <a:srgbClr val="FFFFFF"/>
                </a:solidFill>
              </a:rPr>
              <a:t>GITHUB COPILOT</a:t>
            </a:r>
            <a:endParaRPr lang="en-US" sz="1200" dirty="0"/>
          </a:p>
        </p:txBody>
      </p:sp>
      <p:sp>
        <p:nvSpPr>
          <p:cNvPr id="27" name="Text 25"/>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3  |  OBJECTIVES</a:t>
            </a:r>
            <a:endParaRPr lang="en-US" sz="900" dirty="0"/>
          </a:p>
        </p:txBody>
      </p:sp>
      <p:sp>
        <p:nvSpPr>
          <p:cNvPr id="6" name="Text 4"/>
          <p:cNvSpPr/>
          <p:nvPr/>
        </p:nvSpPr>
        <p:spPr>
          <a:xfrm>
            <a:off x="320040" y="594360"/>
            <a:ext cx="8503920" cy="77724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Project Objectives</a:t>
            </a:r>
            <a:endParaRPr lang="en-US" sz="4200" dirty="0"/>
          </a:p>
        </p:txBody>
      </p:sp>
      <p:sp>
        <p:nvSpPr>
          <p:cNvPr id="7" name="Shape 5"/>
          <p:cNvSpPr/>
          <p:nvPr/>
        </p:nvSpPr>
        <p:spPr>
          <a:xfrm>
            <a:off x="274320" y="1536192"/>
            <a:ext cx="4251960" cy="1024128"/>
          </a:xfrm>
          <a:prstGeom prst="rect">
            <a:avLst/>
          </a:prstGeom>
          <a:solidFill>
            <a:srgbClr val="122840"/>
          </a:solidFill>
          <a:ln w="5080">
            <a:solidFill>
              <a:srgbClr val="CBD5E1"/>
            </a:solidFill>
            <a:prstDash val="solid"/>
          </a:ln>
        </p:spPr>
      </p:sp>
      <p:sp>
        <p:nvSpPr>
          <p:cNvPr id="8" name="Text 6"/>
          <p:cNvSpPr/>
          <p:nvPr/>
        </p:nvSpPr>
        <p:spPr>
          <a:xfrm>
            <a:off x="411480" y="1536192"/>
            <a:ext cx="731520" cy="1024128"/>
          </a:xfrm>
          <a:prstGeom prst="rect">
            <a:avLst/>
          </a:prstGeom>
          <a:noFill/>
          <a:ln/>
        </p:spPr>
        <p:txBody>
          <a:bodyPr wrap="square" lIns="0" tIns="0" rIns="0" bIns="0" rtlCol="0" anchor="ctr"/>
          <a:lstStyle/>
          <a:p>
            <a:pPr marL="0" indent="0">
              <a:buNone/>
            </a:pPr>
            <a:r>
              <a:rPr lang="en-US" sz="2600" b="1" dirty="0">
                <a:solidFill>
                  <a:srgbClr val="FF6B35"/>
                </a:solidFill>
                <a:latin typeface="Georgia" pitchFamily="34" charset="0"/>
                <a:ea typeface="Georgia" pitchFamily="34" charset="-122"/>
                <a:cs typeface="Georgia" pitchFamily="34" charset="-120"/>
              </a:rPr>
              <a:t>01</a:t>
            </a:r>
            <a:endParaRPr lang="en-US" sz="2600" dirty="0"/>
          </a:p>
        </p:txBody>
      </p:sp>
      <p:sp>
        <p:nvSpPr>
          <p:cNvPr id="9" name="Text 7"/>
          <p:cNvSpPr/>
          <p:nvPr/>
        </p:nvSpPr>
        <p:spPr>
          <a:xfrm>
            <a:off x="1234440" y="1627632"/>
            <a:ext cx="3154680" cy="292608"/>
          </a:xfrm>
          <a:prstGeom prst="rect">
            <a:avLst/>
          </a:prstGeom>
          <a:noFill/>
          <a:ln/>
        </p:spPr>
        <p:txBody>
          <a:bodyPr wrap="square" lIns="0" tIns="0" rIns="0" bIns="0" rtlCol="0" anchor="ctr"/>
          <a:lstStyle/>
          <a:p>
            <a:pPr marL="0" indent="0">
              <a:buNone/>
            </a:pPr>
            <a:r>
              <a:rPr lang="en-US" sz="1150" b="1" dirty="0">
                <a:solidFill>
                  <a:srgbClr val="FFFFFF"/>
                </a:solidFill>
              </a:rPr>
              <a:t>AI-Driven Development</a:t>
            </a:r>
            <a:endParaRPr lang="en-US" sz="1150" dirty="0"/>
          </a:p>
        </p:txBody>
      </p:sp>
      <p:sp>
        <p:nvSpPr>
          <p:cNvPr id="10" name="Text 8"/>
          <p:cNvSpPr/>
          <p:nvPr/>
        </p:nvSpPr>
        <p:spPr>
          <a:xfrm>
            <a:off x="1234440" y="1938528"/>
            <a:ext cx="3154680" cy="566928"/>
          </a:xfrm>
          <a:prstGeom prst="rect">
            <a:avLst/>
          </a:prstGeom>
          <a:noFill/>
          <a:ln/>
        </p:spPr>
        <p:txBody>
          <a:bodyPr wrap="square" lIns="0" tIns="0" rIns="0" bIns="0" rtlCol="0" anchor="ctr"/>
          <a:lstStyle/>
          <a:p>
            <a:pPr marL="0" indent="0">
              <a:buNone/>
            </a:pPr>
            <a:r>
              <a:rPr lang="en-US" sz="950" dirty="0">
                <a:solidFill>
                  <a:srgbClr val="CBD5E1"/>
                </a:solidFill>
              </a:rPr>
              <a:t>Build a complete full-stack pet marketplace using only GITHUB COPILOT prompts — no manual code writing.</a:t>
            </a:r>
            <a:endParaRPr lang="en-US" sz="950" dirty="0"/>
          </a:p>
        </p:txBody>
      </p:sp>
      <p:sp>
        <p:nvSpPr>
          <p:cNvPr id="11" name="Shape 9"/>
          <p:cNvSpPr/>
          <p:nvPr/>
        </p:nvSpPr>
        <p:spPr>
          <a:xfrm>
            <a:off x="4736592" y="1536192"/>
            <a:ext cx="4251960" cy="1024128"/>
          </a:xfrm>
          <a:prstGeom prst="rect">
            <a:avLst/>
          </a:prstGeom>
          <a:solidFill>
            <a:srgbClr val="122840"/>
          </a:solidFill>
          <a:ln w="5080">
            <a:solidFill>
              <a:srgbClr val="CBD5E1"/>
            </a:solidFill>
            <a:prstDash val="solid"/>
          </a:ln>
        </p:spPr>
      </p:sp>
      <p:sp>
        <p:nvSpPr>
          <p:cNvPr id="12" name="Text 10"/>
          <p:cNvSpPr/>
          <p:nvPr/>
        </p:nvSpPr>
        <p:spPr>
          <a:xfrm>
            <a:off x="4873752" y="1536192"/>
            <a:ext cx="731520" cy="1024128"/>
          </a:xfrm>
          <a:prstGeom prst="rect">
            <a:avLst/>
          </a:prstGeom>
          <a:noFill/>
          <a:ln/>
        </p:spPr>
        <p:txBody>
          <a:bodyPr wrap="square" lIns="0" tIns="0" rIns="0" bIns="0" rtlCol="0" anchor="ctr"/>
          <a:lstStyle/>
          <a:p>
            <a:pPr marL="0" indent="0">
              <a:buNone/>
            </a:pPr>
            <a:r>
              <a:rPr lang="en-US" sz="2600" b="1" dirty="0">
                <a:solidFill>
                  <a:srgbClr val="00C9A7"/>
                </a:solidFill>
                <a:latin typeface="Georgia" pitchFamily="34" charset="0"/>
                <a:ea typeface="Georgia" pitchFamily="34" charset="-122"/>
                <a:cs typeface="Georgia" pitchFamily="34" charset="-120"/>
              </a:rPr>
              <a:t>02</a:t>
            </a:r>
            <a:endParaRPr lang="en-US" sz="2600" dirty="0"/>
          </a:p>
        </p:txBody>
      </p:sp>
      <p:sp>
        <p:nvSpPr>
          <p:cNvPr id="13" name="Text 11"/>
          <p:cNvSpPr/>
          <p:nvPr/>
        </p:nvSpPr>
        <p:spPr>
          <a:xfrm>
            <a:off x="5696712" y="1627632"/>
            <a:ext cx="3154680" cy="292608"/>
          </a:xfrm>
          <a:prstGeom prst="rect">
            <a:avLst/>
          </a:prstGeom>
          <a:noFill/>
          <a:ln/>
        </p:spPr>
        <p:txBody>
          <a:bodyPr wrap="square" lIns="0" tIns="0" rIns="0" bIns="0" rtlCol="0" anchor="ctr"/>
          <a:lstStyle/>
          <a:p>
            <a:pPr marL="0" indent="0">
              <a:buNone/>
            </a:pPr>
            <a:r>
              <a:rPr lang="en-US" sz="1150" b="1" dirty="0">
                <a:solidFill>
                  <a:srgbClr val="FFFFFF"/>
                </a:solidFill>
              </a:rPr>
              <a:t>Full-Stack Implementation</a:t>
            </a:r>
            <a:endParaRPr lang="en-US" sz="1150" dirty="0"/>
          </a:p>
        </p:txBody>
      </p:sp>
      <p:sp>
        <p:nvSpPr>
          <p:cNvPr id="14" name="Text 12"/>
          <p:cNvSpPr/>
          <p:nvPr/>
        </p:nvSpPr>
        <p:spPr>
          <a:xfrm>
            <a:off x="5696712" y="1938528"/>
            <a:ext cx="3154680" cy="566928"/>
          </a:xfrm>
          <a:prstGeom prst="rect">
            <a:avLst/>
          </a:prstGeom>
          <a:noFill/>
          <a:ln/>
        </p:spPr>
        <p:txBody>
          <a:bodyPr wrap="square" lIns="0" tIns="0" rIns="0" bIns="0" rtlCol="0" anchor="ctr"/>
          <a:lstStyle/>
          <a:p>
            <a:pPr marL="0" indent="0">
              <a:buNone/>
            </a:pPr>
            <a:r>
              <a:rPr lang="en-US" sz="950" dirty="0">
                <a:solidFill>
                  <a:srgbClr val="CBD5E1"/>
                </a:solidFill>
              </a:rPr>
              <a:t>Node.js + Express backend, MongoDB database, REST APIs, EJS templating, and custom CSS.</a:t>
            </a:r>
            <a:endParaRPr lang="en-US" sz="950" dirty="0"/>
          </a:p>
        </p:txBody>
      </p:sp>
      <p:sp>
        <p:nvSpPr>
          <p:cNvPr id="15" name="Shape 13"/>
          <p:cNvSpPr/>
          <p:nvPr/>
        </p:nvSpPr>
        <p:spPr>
          <a:xfrm>
            <a:off x="274320" y="2697480"/>
            <a:ext cx="4251960" cy="1024128"/>
          </a:xfrm>
          <a:prstGeom prst="rect">
            <a:avLst/>
          </a:prstGeom>
          <a:solidFill>
            <a:srgbClr val="122840"/>
          </a:solidFill>
          <a:ln w="5080">
            <a:solidFill>
              <a:srgbClr val="CBD5E1"/>
            </a:solidFill>
            <a:prstDash val="solid"/>
          </a:ln>
        </p:spPr>
      </p:sp>
      <p:sp>
        <p:nvSpPr>
          <p:cNvPr id="16" name="Text 14"/>
          <p:cNvSpPr/>
          <p:nvPr/>
        </p:nvSpPr>
        <p:spPr>
          <a:xfrm>
            <a:off x="411480" y="2697480"/>
            <a:ext cx="731520" cy="1024128"/>
          </a:xfrm>
          <a:prstGeom prst="rect">
            <a:avLst/>
          </a:prstGeom>
          <a:noFill/>
          <a:ln/>
        </p:spPr>
        <p:txBody>
          <a:bodyPr wrap="square" lIns="0" tIns="0" rIns="0" bIns="0" rtlCol="0" anchor="ctr"/>
          <a:lstStyle/>
          <a:p>
            <a:pPr marL="0" indent="0">
              <a:buNone/>
            </a:pPr>
            <a:r>
              <a:rPr lang="en-US" sz="2600" b="1" dirty="0">
                <a:solidFill>
                  <a:srgbClr val="0097A7"/>
                </a:solidFill>
                <a:latin typeface="Georgia" pitchFamily="34" charset="0"/>
                <a:ea typeface="Georgia" pitchFamily="34" charset="-122"/>
                <a:cs typeface="Georgia" pitchFamily="34" charset="-120"/>
              </a:rPr>
              <a:t>03</a:t>
            </a:r>
            <a:endParaRPr lang="en-US" sz="2600" dirty="0"/>
          </a:p>
        </p:txBody>
      </p:sp>
      <p:sp>
        <p:nvSpPr>
          <p:cNvPr id="17" name="Text 15"/>
          <p:cNvSpPr/>
          <p:nvPr/>
        </p:nvSpPr>
        <p:spPr>
          <a:xfrm>
            <a:off x="1234440" y="2788920"/>
            <a:ext cx="3154680" cy="292608"/>
          </a:xfrm>
          <a:prstGeom prst="rect">
            <a:avLst/>
          </a:prstGeom>
          <a:noFill/>
          <a:ln/>
        </p:spPr>
        <p:txBody>
          <a:bodyPr wrap="square" lIns="0" tIns="0" rIns="0" bIns="0" rtlCol="0" anchor="ctr"/>
          <a:lstStyle/>
          <a:p>
            <a:pPr marL="0" indent="0">
              <a:buNone/>
            </a:pPr>
            <a:r>
              <a:rPr lang="en-US" sz="1150" b="1" dirty="0">
                <a:solidFill>
                  <a:srgbClr val="FFFFFF"/>
                </a:solidFill>
              </a:rPr>
              <a:t>User Authentication</a:t>
            </a:r>
            <a:endParaRPr lang="en-US" sz="1150" dirty="0"/>
          </a:p>
        </p:txBody>
      </p:sp>
      <p:sp>
        <p:nvSpPr>
          <p:cNvPr id="18" name="Text 16"/>
          <p:cNvSpPr/>
          <p:nvPr/>
        </p:nvSpPr>
        <p:spPr>
          <a:xfrm>
            <a:off x="1234440" y="3099816"/>
            <a:ext cx="3154680" cy="566928"/>
          </a:xfrm>
          <a:prstGeom prst="rect">
            <a:avLst/>
          </a:prstGeom>
          <a:noFill/>
          <a:ln/>
        </p:spPr>
        <p:txBody>
          <a:bodyPr wrap="square" lIns="0" tIns="0" rIns="0" bIns="0" rtlCol="0" anchor="ctr"/>
          <a:lstStyle/>
          <a:p>
            <a:pPr marL="0" indent="0">
              <a:buNone/>
            </a:pPr>
            <a:r>
              <a:rPr lang="en-US" sz="950" dirty="0">
                <a:solidFill>
                  <a:srgbClr val="CBD5E1"/>
                </a:solidFill>
              </a:rPr>
              <a:t>Email login, signup, forgot password with reset token, bcrypt hashing, session management.</a:t>
            </a:r>
            <a:endParaRPr lang="en-US" sz="950" dirty="0"/>
          </a:p>
        </p:txBody>
      </p:sp>
      <p:sp>
        <p:nvSpPr>
          <p:cNvPr id="19" name="Shape 17"/>
          <p:cNvSpPr/>
          <p:nvPr/>
        </p:nvSpPr>
        <p:spPr>
          <a:xfrm>
            <a:off x="4736592" y="2697480"/>
            <a:ext cx="4251960" cy="1024128"/>
          </a:xfrm>
          <a:prstGeom prst="rect">
            <a:avLst/>
          </a:prstGeom>
          <a:solidFill>
            <a:srgbClr val="122840"/>
          </a:solidFill>
          <a:ln w="5080">
            <a:solidFill>
              <a:srgbClr val="CBD5E1"/>
            </a:solidFill>
            <a:prstDash val="solid"/>
          </a:ln>
        </p:spPr>
      </p:sp>
      <p:sp>
        <p:nvSpPr>
          <p:cNvPr id="20" name="Text 18"/>
          <p:cNvSpPr/>
          <p:nvPr/>
        </p:nvSpPr>
        <p:spPr>
          <a:xfrm>
            <a:off x="4873752" y="2697480"/>
            <a:ext cx="731520" cy="1024128"/>
          </a:xfrm>
          <a:prstGeom prst="rect">
            <a:avLst/>
          </a:prstGeom>
          <a:noFill/>
          <a:ln/>
        </p:spPr>
        <p:txBody>
          <a:bodyPr wrap="square" lIns="0" tIns="0" rIns="0" bIns="0" rtlCol="0" anchor="ctr"/>
          <a:lstStyle/>
          <a:p>
            <a:pPr marL="0" indent="0">
              <a:buNone/>
            </a:pPr>
            <a:r>
              <a:rPr lang="en-US" sz="2600" b="1" dirty="0">
                <a:solidFill>
                  <a:srgbClr val="FF6B35"/>
                </a:solidFill>
                <a:latin typeface="Georgia" pitchFamily="34" charset="0"/>
                <a:ea typeface="Georgia" pitchFamily="34" charset="-122"/>
                <a:cs typeface="Georgia" pitchFamily="34" charset="-120"/>
              </a:rPr>
              <a:t>04</a:t>
            </a:r>
            <a:endParaRPr lang="en-US" sz="2600" dirty="0"/>
          </a:p>
        </p:txBody>
      </p:sp>
      <p:sp>
        <p:nvSpPr>
          <p:cNvPr id="21" name="Text 19"/>
          <p:cNvSpPr/>
          <p:nvPr/>
        </p:nvSpPr>
        <p:spPr>
          <a:xfrm>
            <a:off x="5696712" y="2788920"/>
            <a:ext cx="3154680" cy="292608"/>
          </a:xfrm>
          <a:prstGeom prst="rect">
            <a:avLst/>
          </a:prstGeom>
          <a:noFill/>
          <a:ln/>
        </p:spPr>
        <p:txBody>
          <a:bodyPr wrap="square" lIns="0" tIns="0" rIns="0" bIns="0" rtlCol="0" anchor="ctr"/>
          <a:lstStyle/>
          <a:p>
            <a:pPr marL="0" indent="0">
              <a:buNone/>
            </a:pPr>
            <a:r>
              <a:rPr lang="en-US" sz="1150" b="1" dirty="0">
                <a:solidFill>
                  <a:srgbClr val="FFFFFF"/>
                </a:solidFill>
              </a:rPr>
              <a:t>Complete Pet Marketplace</a:t>
            </a:r>
            <a:endParaRPr lang="en-US" sz="1150" dirty="0"/>
          </a:p>
        </p:txBody>
      </p:sp>
      <p:sp>
        <p:nvSpPr>
          <p:cNvPr id="22" name="Text 20"/>
          <p:cNvSpPr/>
          <p:nvPr/>
        </p:nvSpPr>
        <p:spPr>
          <a:xfrm>
            <a:off x="5696712" y="3099816"/>
            <a:ext cx="3154680" cy="566928"/>
          </a:xfrm>
          <a:prstGeom prst="rect">
            <a:avLst/>
          </a:prstGeom>
          <a:noFill/>
          <a:ln/>
        </p:spPr>
        <p:txBody>
          <a:bodyPr wrap="square" lIns="0" tIns="0" rIns="0" bIns="0" rtlCol="0" anchor="ctr"/>
          <a:lstStyle/>
          <a:p>
            <a:pPr marL="0" indent="0">
              <a:buNone/>
            </a:pPr>
            <a:r>
              <a:rPr lang="en-US" sz="950" dirty="0">
                <a:solidFill>
                  <a:srgbClr val="CBD5E1"/>
                </a:solidFill>
              </a:rPr>
              <a:t>Multi-image listings with gallery, wishlist, budget filter, category search, live chat.</a:t>
            </a:r>
            <a:endParaRPr lang="en-US" sz="950" dirty="0"/>
          </a:p>
        </p:txBody>
      </p:sp>
      <p:sp>
        <p:nvSpPr>
          <p:cNvPr id="23" name="Shape 21"/>
          <p:cNvSpPr/>
          <p:nvPr/>
        </p:nvSpPr>
        <p:spPr>
          <a:xfrm>
            <a:off x="274320" y="3858768"/>
            <a:ext cx="4251960" cy="1024128"/>
          </a:xfrm>
          <a:prstGeom prst="rect">
            <a:avLst/>
          </a:prstGeom>
          <a:solidFill>
            <a:srgbClr val="122840"/>
          </a:solidFill>
          <a:ln w="5080">
            <a:solidFill>
              <a:srgbClr val="CBD5E1"/>
            </a:solidFill>
            <a:prstDash val="solid"/>
          </a:ln>
        </p:spPr>
      </p:sp>
      <p:sp>
        <p:nvSpPr>
          <p:cNvPr id="24" name="Text 22"/>
          <p:cNvSpPr/>
          <p:nvPr/>
        </p:nvSpPr>
        <p:spPr>
          <a:xfrm>
            <a:off x="411480" y="3858768"/>
            <a:ext cx="731520" cy="1024128"/>
          </a:xfrm>
          <a:prstGeom prst="rect">
            <a:avLst/>
          </a:prstGeom>
          <a:noFill/>
          <a:ln/>
        </p:spPr>
        <p:txBody>
          <a:bodyPr wrap="square" lIns="0" tIns="0" rIns="0" bIns="0" rtlCol="0" anchor="ctr"/>
          <a:lstStyle/>
          <a:p>
            <a:pPr marL="0" indent="0">
              <a:buNone/>
            </a:pPr>
            <a:r>
              <a:rPr lang="en-US" sz="2600" b="1" dirty="0">
                <a:solidFill>
                  <a:srgbClr val="00C9A7"/>
                </a:solidFill>
                <a:latin typeface="Georgia" pitchFamily="34" charset="0"/>
                <a:ea typeface="Georgia" pitchFamily="34" charset="-122"/>
                <a:cs typeface="Georgia" pitchFamily="34" charset="-120"/>
              </a:rPr>
              <a:t>05</a:t>
            </a:r>
            <a:endParaRPr lang="en-US" sz="2600" dirty="0"/>
          </a:p>
        </p:txBody>
      </p:sp>
      <p:sp>
        <p:nvSpPr>
          <p:cNvPr id="25" name="Text 23"/>
          <p:cNvSpPr/>
          <p:nvPr/>
        </p:nvSpPr>
        <p:spPr>
          <a:xfrm>
            <a:off x="1234440" y="3950208"/>
            <a:ext cx="3154680" cy="292608"/>
          </a:xfrm>
          <a:prstGeom prst="rect">
            <a:avLst/>
          </a:prstGeom>
          <a:noFill/>
          <a:ln/>
        </p:spPr>
        <p:txBody>
          <a:bodyPr wrap="square" lIns="0" tIns="0" rIns="0" bIns="0" rtlCol="0" anchor="ctr"/>
          <a:lstStyle/>
          <a:p>
            <a:pPr marL="0" indent="0">
              <a:buNone/>
            </a:pPr>
            <a:r>
              <a:rPr lang="en-US" sz="1150" b="1" dirty="0">
                <a:solidFill>
                  <a:srgbClr val="FFFFFF"/>
                </a:solidFill>
              </a:rPr>
              <a:t>Admin Control Panel</a:t>
            </a:r>
            <a:endParaRPr lang="en-US" sz="1150" dirty="0"/>
          </a:p>
        </p:txBody>
      </p:sp>
      <p:sp>
        <p:nvSpPr>
          <p:cNvPr id="26" name="Text 24"/>
          <p:cNvSpPr/>
          <p:nvPr/>
        </p:nvSpPr>
        <p:spPr>
          <a:xfrm>
            <a:off x="1234440" y="4261104"/>
            <a:ext cx="3154680" cy="566928"/>
          </a:xfrm>
          <a:prstGeom prst="rect">
            <a:avLst/>
          </a:prstGeom>
          <a:noFill/>
          <a:ln/>
        </p:spPr>
        <p:txBody>
          <a:bodyPr wrap="square" lIns="0" tIns="0" rIns="0" bIns="0" rtlCol="0" anchor="ctr"/>
          <a:lstStyle/>
          <a:p>
            <a:pPr marL="0" indent="0">
              <a:buNone/>
            </a:pPr>
            <a:r>
              <a:rPr lang="en-US" sz="950" dirty="0">
                <a:solidFill>
                  <a:srgbClr val="CBD5E1"/>
                </a:solidFill>
              </a:rPr>
              <a:t>Manage all users and listings, feature/delete ads, monitor activity from admin dashboard.</a:t>
            </a:r>
            <a:endParaRPr lang="en-US" sz="950" dirty="0"/>
          </a:p>
        </p:txBody>
      </p:sp>
      <p:sp>
        <p:nvSpPr>
          <p:cNvPr id="27" name="Shape 25"/>
          <p:cNvSpPr/>
          <p:nvPr/>
        </p:nvSpPr>
        <p:spPr>
          <a:xfrm>
            <a:off x="4736592" y="3858768"/>
            <a:ext cx="4251960" cy="1024128"/>
          </a:xfrm>
          <a:prstGeom prst="rect">
            <a:avLst/>
          </a:prstGeom>
          <a:solidFill>
            <a:srgbClr val="122840"/>
          </a:solidFill>
          <a:ln w="5080">
            <a:solidFill>
              <a:srgbClr val="CBD5E1"/>
            </a:solidFill>
            <a:prstDash val="solid"/>
          </a:ln>
        </p:spPr>
      </p:sp>
      <p:sp>
        <p:nvSpPr>
          <p:cNvPr id="28" name="Text 26"/>
          <p:cNvSpPr/>
          <p:nvPr/>
        </p:nvSpPr>
        <p:spPr>
          <a:xfrm>
            <a:off x="4873752" y="3858768"/>
            <a:ext cx="731520" cy="1024128"/>
          </a:xfrm>
          <a:prstGeom prst="rect">
            <a:avLst/>
          </a:prstGeom>
          <a:noFill/>
          <a:ln/>
        </p:spPr>
        <p:txBody>
          <a:bodyPr wrap="square" lIns="0" tIns="0" rIns="0" bIns="0" rtlCol="0" anchor="ctr"/>
          <a:lstStyle/>
          <a:p>
            <a:pPr marL="0" indent="0">
              <a:buNone/>
            </a:pPr>
            <a:r>
              <a:rPr lang="en-US" sz="2600" b="1" dirty="0">
                <a:solidFill>
                  <a:srgbClr val="0097A7"/>
                </a:solidFill>
                <a:latin typeface="Georgia" pitchFamily="34" charset="0"/>
                <a:ea typeface="Georgia" pitchFamily="34" charset="-122"/>
                <a:cs typeface="Georgia" pitchFamily="34" charset="-120"/>
              </a:rPr>
              <a:t>06</a:t>
            </a:r>
            <a:endParaRPr lang="en-US" sz="2600" dirty="0"/>
          </a:p>
        </p:txBody>
      </p:sp>
      <p:sp>
        <p:nvSpPr>
          <p:cNvPr id="29" name="Text 27"/>
          <p:cNvSpPr/>
          <p:nvPr/>
        </p:nvSpPr>
        <p:spPr>
          <a:xfrm>
            <a:off x="5696712" y="3950208"/>
            <a:ext cx="3154680" cy="292608"/>
          </a:xfrm>
          <a:prstGeom prst="rect">
            <a:avLst/>
          </a:prstGeom>
          <a:noFill/>
          <a:ln/>
        </p:spPr>
        <p:txBody>
          <a:bodyPr wrap="square" lIns="0" tIns="0" rIns="0" bIns="0" rtlCol="0" anchor="ctr"/>
          <a:lstStyle/>
          <a:p>
            <a:pPr marL="0" indent="0">
              <a:buNone/>
            </a:pPr>
            <a:r>
              <a:rPr lang="en-US" sz="1150" b="1" dirty="0">
                <a:solidFill>
                  <a:srgbClr val="FFFFFF"/>
                </a:solidFill>
              </a:rPr>
              <a:t>Prompt Engineering</a:t>
            </a:r>
            <a:endParaRPr lang="en-US" sz="1150" dirty="0"/>
          </a:p>
        </p:txBody>
      </p:sp>
      <p:sp>
        <p:nvSpPr>
          <p:cNvPr id="30" name="Text 28"/>
          <p:cNvSpPr/>
          <p:nvPr/>
        </p:nvSpPr>
        <p:spPr>
          <a:xfrm>
            <a:off x="5696712" y="4261104"/>
            <a:ext cx="3154680" cy="566928"/>
          </a:xfrm>
          <a:prstGeom prst="rect">
            <a:avLst/>
          </a:prstGeom>
          <a:noFill/>
          <a:ln/>
        </p:spPr>
        <p:txBody>
          <a:bodyPr wrap="square" lIns="0" tIns="0" rIns="0" bIns="0" rtlCol="0" anchor="ctr"/>
          <a:lstStyle/>
          <a:p>
            <a:pPr marL="0" indent="0">
              <a:buNone/>
            </a:pPr>
            <a:r>
              <a:rPr lang="en-US" sz="950" dirty="0">
                <a:solidFill>
                  <a:srgbClr val="CBD5E1"/>
                </a:solidFill>
              </a:rPr>
              <a:t>Demonstrate how to craft effective AI prompts to generate working, production-ready code.</a:t>
            </a:r>
            <a:endParaRPr lang="en-US" sz="950" dirty="0"/>
          </a:p>
        </p:txBody>
      </p:sp>
      <p:sp>
        <p:nvSpPr>
          <p:cNvPr id="31" name="Text 29"/>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4  |  STAKEHOLDERS</a:t>
            </a:r>
            <a:endParaRPr lang="en-US" sz="900" dirty="0"/>
          </a:p>
        </p:txBody>
      </p:sp>
      <p:sp>
        <p:nvSpPr>
          <p:cNvPr id="6" name="Text 4"/>
          <p:cNvSpPr/>
          <p:nvPr/>
        </p:nvSpPr>
        <p:spPr>
          <a:xfrm>
            <a:off x="320040" y="594360"/>
            <a:ext cx="8503920" cy="777240"/>
          </a:xfrm>
          <a:prstGeom prst="rect">
            <a:avLst/>
          </a:prstGeom>
          <a:noFill/>
          <a:ln/>
        </p:spPr>
        <p:txBody>
          <a:bodyPr wrap="square" lIns="0" tIns="0" rIns="0" bIns="0" rtlCol="0" anchor="ctr"/>
          <a:lstStyle/>
          <a:p>
            <a:pPr marL="0" indent="0">
              <a:buNone/>
            </a:pPr>
            <a:r>
              <a:rPr lang="en-US" sz="4200" b="1" dirty="0">
                <a:solidFill>
                  <a:srgbClr val="0B1F3A"/>
                </a:solidFill>
                <a:latin typeface="Georgia" pitchFamily="34" charset="0"/>
                <a:ea typeface="Georgia" pitchFamily="34" charset="-122"/>
                <a:cs typeface="Georgia" pitchFamily="34" charset="-120"/>
              </a:rPr>
              <a:t>Project Stakeholders</a:t>
            </a:r>
            <a:endParaRPr lang="en-US" sz="4200" dirty="0"/>
          </a:p>
        </p:txBody>
      </p:sp>
      <p:sp>
        <p:nvSpPr>
          <p:cNvPr id="7" name="Shape 5"/>
          <p:cNvSpPr/>
          <p:nvPr/>
        </p:nvSpPr>
        <p:spPr>
          <a:xfrm>
            <a:off x="320040" y="1508760"/>
            <a:ext cx="8503920" cy="713232"/>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8" name="Shape 6"/>
          <p:cNvSpPr/>
          <p:nvPr/>
        </p:nvSpPr>
        <p:spPr>
          <a:xfrm>
            <a:off x="320040" y="1508760"/>
            <a:ext cx="64008" cy="713232"/>
          </a:xfrm>
          <a:prstGeom prst="rect">
            <a:avLst/>
          </a:prstGeom>
          <a:solidFill>
            <a:srgbClr val="2196F3"/>
          </a:solidFill>
          <a:ln w="12700">
            <a:solidFill>
              <a:srgbClr val="2196F3"/>
            </a:solidFill>
            <a:prstDash val="solid"/>
          </a:ln>
        </p:spPr>
      </p:sp>
      <p:sp>
        <p:nvSpPr>
          <p:cNvPr id="9" name="Shape 7"/>
          <p:cNvSpPr/>
          <p:nvPr/>
        </p:nvSpPr>
        <p:spPr>
          <a:xfrm>
            <a:off x="502920" y="1618488"/>
            <a:ext cx="475488" cy="475488"/>
          </a:xfrm>
          <a:prstGeom prst="ellipse">
            <a:avLst/>
          </a:prstGeom>
          <a:solidFill>
            <a:srgbClr val="2196F3">
              <a:alpha val="15000"/>
            </a:srgbClr>
          </a:solidFill>
          <a:ln w="12700">
            <a:solidFill>
              <a:srgbClr val="2196F3"/>
            </a:solidFill>
            <a:prstDash val="solid"/>
          </a:ln>
        </p:spPr>
      </p:sp>
      <p:sp>
        <p:nvSpPr>
          <p:cNvPr id="10" name="Text 8"/>
          <p:cNvSpPr/>
          <p:nvPr/>
        </p:nvSpPr>
        <p:spPr>
          <a:xfrm>
            <a:off x="502920" y="1618488"/>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1" name="Text 9"/>
          <p:cNvSpPr/>
          <p:nvPr/>
        </p:nvSpPr>
        <p:spPr>
          <a:xfrm>
            <a:off x="1115568" y="1581912"/>
            <a:ext cx="2926080" cy="274320"/>
          </a:xfrm>
          <a:prstGeom prst="rect">
            <a:avLst/>
          </a:prstGeom>
          <a:noFill/>
          <a:ln/>
        </p:spPr>
        <p:txBody>
          <a:bodyPr wrap="square" lIns="0" tIns="0" rIns="0" bIns="0" rtlCol="0" anchor="ctr"/>
          <a:lstStyle/>
          <a:p>
            <a:pPr marL="0" indent="0">
              <a:buNone/>
            </a:pPr>
            <a:r>
              <a:rPr lang="en-US" sz="1300" b="1" dirty="0">
                <a:solidFill>
                  <a:srgbClr val="2196F3"/>
                </a:solidFill>
              </a:rPr>
              <a:t>Buyers / Adopters</a:t>
            </a:r>
            <a:endParaRPr lang="en-US" sz="1300" dirty="0"/>
          </a:p>
        </p:txBody>
      </p:sp>
      <p:sp>
        <p:nvSpPr>
          <p:cNvPr id="12" name="Text 10"/>
          <p:cNvSpPr/>
          <p:nvPr/>
        </p:nvSpPr>
        <p:spPr>
          <a:xfrm>
            <a:off x="1115568" y="1874520"/>
            <a:ext cx="7498080" cy="292608"/>
          </a:xfrm>
          <a:prstGeom prst="rect">
            <a:avLst/>
          </a:prstGeom>
          <a:noFill/>
          <a:ln/>
        </p:spPr>
        <p:txBody>
          <a:bodyPr wrap="square" lIns="0" tIns="0" rIns="0" bIns="0" rtlCol="0" anchor="ctr"/>
          <a:lstStyle/>
          <a:p>
            <a:pPr marL="0" indent="0">
              <a:buNone/>
            </a:pPr>
            <a:r>
              <a:rPr lang="en-US" sz="1000" dirty="0">
                <a:solidFill>
                  <a:srgbClr val="64748B"/>
                </a:solidFill>
              </a:rPr>
              <a:t>Browse pet listings by category or budget, search pets, add to wishlist, and message sellers directly through the chat system.</a:t>
            </a:r>
            <a:endParaRPr lang="en-US" sz="1000" dirty="0"/>
          </a:p>
        </p:txBody>
      </p:sp>
      <p:sp>
        <p:nvSpPr>
          <p:cNvPr id="13" name="Shape 11"/>
          <p:cNvSpPr/>
          <p:nvPr/>
        </p:nvSpPr>
        <p:spPr>
          <a:xfrm>
            <a:off x="320040" y="2350008"/>
            <a:ext cx="8503920" cy="713232"/>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14" name="Shape 12"/>
          <p:cNvSpPr/>
          <p:nvPr/>
        </p:nvSpPr>
        <p:spPr>
          <a:xfrm>
            <a:off x="320040" y="2350008"/>
            <a:ext cx="64008" cy="713232"/>
          </a:xfrm>
          <a:prstGeom prst="rect">
            <a:avLst/>
          </a:prstGeom>
          <a:solidFill>
            <a:srgbClr val="00C9A7"/>
          </a:solidFill>
          <a:ln w="12700">
            <a:solidFill>
              <a:srgbClr val="00C9A7"/>
            </a:solidFill>
            <a:prstDash val="solid"/>
          </a:ln>
        </p:spPr>
      </p:sp>
      <p:sp>
        <p:nvSpPr>
          <p:cNvPr id="15" name="Shape 13"/>
          <p:cNvSpPr/>
          <p:nvPr/>
        </p:nvSpPr>
        <p:spPr>
          <a:xfrm>
            <a:off x="502920" y="2459736"/>
            <a:ext cx="475488" cy="475488"/>
          </a:xfrm>
          <a:prstGeom prst="ellipse">
            <a:avLst/>
          </a:prstGeom>
          <a:solidFill>
            <a:srgbClr val="00C9A7">
              <a:alpha val="15000"/>
            </a:srgbClr>
          </a:solidFill>
          <a:ln w="12700">
            <a:solidFill>
              <a:srgbClr val="00C9A7"/>
            </a:solidFill>
            <a:prstDash val="solid"/>
          </a:ln>
        </p:spPr>
      </p:sp>
      <p:sp>
        <p:nvSpPr>
          <p:cNvPr id="16" name="Text 14"/>
          <p:cNvSpPr/>
          <p:nvPr/>
        </p:nvSpPr>
        <p:spPr>
          <a:xfrm>
            <a:off x="502920" y="2459736"/>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7" name="Text 15"/>
          <p:cNvSpPr/>
          <p:nvPr/>
        </p:nvSpPr>
        <p:spPr>
          <a:xfrm>
            <a:off x="1115568" y="2423160"/>
            <a:ext cx="2926080" cy="274320"/>
          </a:xfrm>
          <a:prstGeom prst="rect">
            <a:avLst/>
          </a:prstGeom>
          <a:noFill/>
          <a:ln/>
        </p:spPr>
        <p:txBody>
          <a:bodyPr wrap="square" lIns="0" tIns="0" rIns="0" bIns="0" rtlCol="0" anchor="ctr"/>
          <a:lstStyle/>
          <a:p>
            <a:pPr marL="0" indent="0">
              <a:buNone/>
            </a:pPr>
            <a:r>
              <a:rPr lang="en-US" sz="1300" b="1" dirty="0">
                <a:solidFill>
                  <a:srgbClr val="00C9A7"/>
                </a:solidFill>
              </a:rPr>
              <a:t>Sellers / Pet Owners</a:t>
            </a:r>
            <a:endParaRPr lang="en-US" sz="1300" dirty="0"/>
          </a:p>
        </p:txBody>
      </p:sp>
      <p:sp>
        <p:nvSpPr>
          <p:cNvPr id="18" name="Text 16"/>
          <p:cNvSpPr/>
          <p:nvPr/>
        </p:nvSpPr>
        <p:spPr>
          <a:xfrm>
            <a:off x="1115568" y="2715768"/>
            <a:ext cx="7498080" cy="292608"/>
          </a:xfrm>
          <a:prstGeom prst="rect">
            <a:avLst/>
          </a:prstGeom>
          <a:noFill/>
          <a:ln/>
        </p:spPr>
        <p:txBody>
          <a:bodyPr wrap="square" lIns="0" tIns="0" rIns="0" bIns="0" rtlCol="0" anchor="ctr"/>
          <a:lstStyle/>
          <a:p>
            <a:pPr marL="0" indent="0">
              <a:buNone/>
            </a:pPr>
            <a:r>
              <a:rPr lang="en-US" sz="1000" dirty="0">
                <a:solidFill>
                  <a:srgbClr val="64748B"/>
                </a:solidFill>
              </a:rPr>
              <a:t>Register and post pet ads with multiple photos, manage their listings (edit/delete/mark sold), and respond to buyer messages.</a:t>
            </a:r>
            <a:endParaRPr lang="en-US" sz="1000" dirty="0"/>
          </a:p>
        </p:txBody>
      </p:sp>
      <p:sp>
        <p:nvSpPr>
          <p:cNvPr id="19" name="Shape 17"/>
          <p:cNvSpPr/>
          <p:nvPr/>
        </p:nvSpPr>
        <p:spPr>
          <a:xfrm>
            <a:off x="320040" y="3191256"/>
            <a:ext cx="8503920" cy="713232"/>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20" name="Shape 18"/>
          <p:cNvSpPr/>
          <p:nvPr/>
        </p:nvSpPr>
        <p:spPr>
          <a:xfrm>
            <a:off x="320040" y="3191256"/>
            <a:ext cx="64008" cy="713232"/>
          </a:xfrm>
          <a:prstGeom prst="rect">
            <a:avLst/>
          </a:prstGeom>
          <a:solidFill>
            <a:srgbClr val="FF6B35"/>
          </a:solidFill>
          <a:ln w="12700">
            <a:solidFill>
              <a:srgbClr val="FF6B35"/>
            </a:solidFill>
            <a:prstDash val="solid"/>
          </a:ln>
        </p:spPr>
      </p:sp>
      <p:sp>
        <p:nvSpPr>
          <p:cNvPr id="21" name="Shape 19"/>
          <p:cNvSpPr/>
          <p:nvPr/>
        </p:nvSpPr>
        <p:spPr>
          <a:xfrm>
            <a:off x="502920" y="3300984"/>
            <a:ext cx="475488" cy="475488"/>
          </a:xfrm>
          <a:prstGeom prst="ellipse">
            <a:avLst/>
          </a:prstGeom>
          <a:solidFill>
            <a:srgbClr val="FF6B35">
              <a:alpha val="15000"/>
            </a:srgbClr>
          </a:solidFill>
          <a:ln w="12700">
            <a:solidFill>
              <a:srgbClr val="FF6B35"/>
            </a:solidFill>
            <a:prstDash val="solid"/>
          </a:ln>
        </p:spPr>
      </p:sp>
      <p:sp>
        <p:nvSpPr>
          <p:cNvPr id="22" name="Text 20"/>
          <p:cNvSpPr/>
          <p:nvPr/>
        </p:nvSpPr>
        <p:spPr>
          <a:xfrm>
            <a:off x="502920" y="3300984"/>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1115568" y="3264408"/>
            <a:ext cx="2926080" cy="274320"/>
          </a:xfrm>
          <a:prstGeom prst="rect">
            <a:avLst/>
          </a:prstGeom>
          <a:noFill/>
          <a:ln/>
        </p:spPr>
        <p:txBody>
          <a:bodyPr wrap="square" lIns="0" tIns="0" rIns="0" bIns="0" rtlCol="0" anchor="ctr"/>
          <a:lstStyle/>
          <a:p>
            <a:pPr marL="0" indent="0">
              <a:buNone/>
            </a:pPr>
            <a:r>
              <a:rPr lang="en-US" sz="1300" b="1" dirty="0">
                <a:solidFill>
                  <a:srgbClr val="FF6B35"/>
                </a:solidFill>
              </a:rPr>
              <a:t>Administrator</a:t>
            </a:r>
            <a:endParaRPr lang="en-US" sz="1300" dirty="0"/>
          </a:p>
        </p:txBody>
      </p:sp>
      <p:sp>
        <p:nvSpPr>
          <p:cNvPr id="24" name="Text 22"/>
          <p:cNvSpPr/>
          <p:nvPr/>
        </p:nvSpPr>
        <p:spPr>
          <a:xfrm>
            <a:off x="1115568" y="3557016"/>
            <a:ext cx="7498080" cy="292608"/>
          </a:xfrm>
          <a:prstGeom prst="rect">
            <a:avLst/>
          </a:prstGeom>
          <a:noFill/>
          <a:ln/>
        </p:spPr>
        <p:txBody>
          <a:bodyPr wrap="square" lIns="0" tIns="0" rIns="0" bIns="0" rtlCol="0" anchor="ctr"/>
          <a:lstStyle/>
          <a:p>
            <a:pPr marL="0" indent="0">
              <a:buNone/>
            </a:pPr>
            <a:r>
              <a:rPr lang="en-US" sz="1000" dirty="0">
                <a:solidFill>
                  <a:srgbClr val="64748B"/>
                </a:solidFill>
              </a:rPr>
              <a:t>Access the admin panel to manage all users (view/delete), moderate listings (feature/delete), and monitor all activity.</a:t>
            </a:r>
            <a:endParaRPr lang="en-US" sz="1000" dirty="0"/>
          </a:p>
        </p:txBody>
      </p:sp>
      <p:sp>
        <p:nvSpPr>
          <p:cNvPr id="25" name="Shape 23"/>
          <p:cNvSpPr/>
          <p:nvPr/>
        </p:nvSpPr>
        <p:spPr>
          <a:xfrm>
            <a:off x="320040" y="4032504"/>
            <a:ext cx="8503920" cy="713232"/>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26" name="Shape 24"/>
          <p:cNvSpPr/>
          <p:nvPr/>
        </p:nvSpPr>
        <p:spPr>
          <a:xfrm>
            <a:off x="320040" y="4032504"/>
            <a:ext cx="64008" cy="713232"/>
          </a:xfrm>
          <a:prstGeom prst="rect">
            <a:avLst/>
          </a:prstGeom>
          <a:solidFill>
            <a:srgbClr val="7C4DFF"/>
          </a:solidFill>
          <a:ln w="12700">
            <a:solidFill>
              <a:srgbClr val="7C4DFF"/>
            </a:solidFill>
            <a:prstDash val="solid"/>
          </a:ln>
        </p:spPr>
      </p:sp>
      <p:sp>
        <p:nvSpPr>
          <p:cNvPr id="27" name="Shape 25"/>
          <p:cNvSpPr/>
          <p:nvPr/>
        </p:nvSpPr>
        <p:spPr>
          <a:xfrm>
            <a:off x="502920" y="4142232"/>
            <a:ext cx="475488" cy="475488"/>
          </a:xfrm>
          <a:prstGeom prst="ellipse">
            <a:avLst/>
          </a:prstGeom>
          <a:solidFill>
            <a:srgbClr val="7C4DFF">
              <a:alpha val="15000"/>
            </a:srgbClr>
          </a:solidFill>
          <a:ln w="12700">
            <a:solidFill>
              <a:srgbClr val="7C4DFF"/>
            </a:solidFill>
            <a:prstDash val="solid"/>
          </a:ln>
        </p:spPr>
      </p:sp>
      <p:sp>
        <p:nvSpPr>
          <p:cNvPr id="28" name="Text 26"/>
          <p:cNvSpPr/>
          <p:nvPr/>
        </p:nvSpPr>
        <p:spPr>
          <a:xfrm>
            <a:off x="502920" y="4142232"/>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9" name="Text 27"/>
          <p:cNvSpPr/>
          <p:nvPr/>
        </p:nvSpPr>
        <p:spPr>
          <a:xfrm>
            <a:off x="1115568" y="4105656"/>
            <a:ext cx="2926080" cy="274320"/>
          </a:xfrm>
          <a:prstGeom prst="rect">
            <a:avLst/>
          </a:prstGeom>
          <a:noFill/>
          <a:ln/>
        </p:spPr>
        <p:txBody>
          <a:bodyPr wrap="square" lIns="0" tIns="0" rIns="0" bIns="0" rtlCol="0" anchor="ctr"/>
          <a:lstStyle/>
          <a:p>
            <a:pPr marL="0" indent="0">
              <a:buNone/>
            </a:pPr>
            <a:r>
              <a:rPr lang="en-US" sz="1300" b="1" dirty="0">
                <a:solidFill>
                  <a:srgbClr val="7C4DFF"/>
                </a:solidFill>
              </a:rPr>
              <a:t>Evaluators / Faculty</a:t>
            </a:r>
            <a:endParaRPr lang="en-US" sz="1300" dirty="0"/>
          </a:p>
        </p:txBody>
      </p:sp>
      <p:sp>
        <p:nvSpPr>
          <p:cNvPr id="30" name="Text 28"/>
          <p:cNvSpPr/>
          <p:nvPr/>
        </p:nvSpPr>
        <p:spPr>
          <a:xfrm>
            <a:off x="1115568" y="4398264"/>
            <a:ext cx="7498080" cy="292608"/>
          </a:xfrm>
          <a:prstGeom prst="rect">
            <a:avLst/>
          </a:prstGeom>
          <a:noFill/>
          <a:ln/>
        </p:spPr>
        <p:txBody>
          <a:bodyPr wrap="square" lIns="0" tIns="0" rIns="0" bIns="0" rtlCol="0" anchor="ctr"/>
          <a:lstStyle/>
          <a:p>
            <a:pPr marL="0" indent="0">
              <a:buNone/>
            </a:pPr>
            <a:r>
              <a:rPr lang="en-US" sz="1000" dirty="0">
                <a:solidFill>
                  <a:srgbClr val="64748B"/>
                </a:solidFill>
              </a:rPr>
              <a:t>Review the project for AI tool usage, prompt quality, technical depth, UI design, and overall functionality of the platform.</a:t>
            </a:r>
            <a:endParaRPr lang="en-US" sz="1000" dirty="0"/>
          </a:p>
        </p:txBody>
      </p:sp>
      <p:sp>
        <p:nvSpPr>
          <p:cNvPr id="31" name="Text 29"/>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5  |  TECH STACK</a:t>
            </a:r>
            <a:endParaRPr lang="en-US" sz="900" dirty="0"/>
          </a:p>
        </p:txBody>
      </p:sp>
      <p:sp>
        <p:nvSpPr>
          <p:cNvPr id="6" name="Text 4"/>
          <p:cNvSpPr/>
          <p:nvPr/>
        </p:nvSpPr>
        <p:spPr>
          <a:xfrm>
            <a:off x="320040" y="594360"/>
            <a:ext cx="8503920" cy="7772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Languages, Tools &amp; Software</a:t>
            </a:r>
            <a:endParaRPr lang="en-US" sz="3800" dirty="0"/>
          </a:p>
        </p:txBody>
      </p:sp>
      <p:sp>
        <p:nvSpPr>
          <p:cNvPr id="7" name="Shape 5"/>
          <p:cNvSpPr/>
          <p:nvPr/>
        </p:nvSpPr>
        <p:spPr>
          <a:xfrm>
            <a:off x="274320" y="1508760"/>
            <a:ext cx="4251960" cy="384048"/>
          </a:xfrm>
          <a:prstGeom prst="rect">
            <a:avLst/>
          </a:prstGeom>
          <a:solidFill>
            <a:srgbClr val="0097A7"/>
          </a:solidFill>
          <a:ln w="12700">
            <a:solidFill>
              <a:srgbClr val="0097A7"/>
            </a:solidFill>
            <a:prstDash val="solid"/>
          </a:ln>
        </p:spPr>
      </p:sp>
      <p:sp>
        <p:nvSpPr>
          <p:cNvPr id="8" name="Text 6"/>
          <p:cNvSpPr/>
          <p:nvPr/>
        </p:nvSpPr>
        <p:spPr>
          <a:xfrm>
            <a:off x="411480" y="1508760"/>
            <a:ext cx="4023360" cy="384048"/>
          </a:xfrm>
          <a:prstGeom prst="rect">
            <a:avLst/>
          </a:prstGeom>
          <a:noFill/>
          <a:ln/>
        </p:spPr>
        <p:txBody>
          <a:bodyPr wrap="square" lIns="0" tIns="0" rIns="0" bIns="0" rtlCol="0" anchor="ctr"/>
          <a:lstStyle/>
          <a:p>
            <a:pPr marL="0" indent="0">
              <a:buNone/>
            </a:pPr>
            <a:r>
              <a:rPr lang="en-US" sz="1300" b="1" dirty="0">
                <a:solidFill>
                  <a:srgbClr val="FFFFFF"/>
                </a:solidFill>
              </a:rPr>
              <a:t>Backend</a:t>
            </a:r>
            <a:endParaRPr lang="en-US" sz="1300" dirty="0"/>
          </a:p>
        </p:txBody>
      </p:sp>
      <p:sp>
        <p:nvSpPr>
          <p:cNvPr id="9" name="Shape 7"/>
          <p:cNvSpPr/>
          <p:nvPr/>
        </p:nvSpPr>
        <p:spPr>
          <a:xfrm>
            <a:off x="274320" y="1892808"/>
            <a:ext cx="4251960" cy="1234440"/>
          </a:xfrm>
          <a:prstGeom prst="rect">
            <a:avLst/>
          </a:prstGeom>
          <a:solidFill>
            <a:srgbClr val="122840"/>
          </a:solidFill>
          <a:ln w="3810">
            <a:solidFill>
              <a:srgbClr val="CBD5E1"/>
            </a:solidFill>
            <a:prstDash val="solid"/>
          </a:ln>
        </p:spPr>
      </p:sp>
      <p:sp>
        <p:nvSpPr>
          <p:cNvPr id="10" name="Text 8"/>
          <p:cNvSpPr/>
          <p:nvPr/>
        </p:nvSpPr>
        <p:spPr>
          <a:xfrm>
            <a:off x="457200" y="1965960"/>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Node.js (Runtime Environment)</a:t>
            </a:r>
            <a:endParaRPr lang="en-US" sz="950" dirty="0"/>
          </a:p>
        </p:txBody>
      </p:sp>
      <p:sp>
        <p:nvSpPr>
          <p:cNvPr id="11" name="Text 9"/>
          <p:cNvSpPr/>
          <p:nvPr/>
        </p:nvSpPr>
        <p:spPr>
          <a:xfrm>
            <a:off x="457200" y="2185416"/>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Express.js (Web Framework)</a:t>
            </a:r>
            <a:endParaRPr lang="en-US" sz="950" dirty="0"/>
          </a:p>
        </p:txBody>
      </p:sp>
      <p:sp>
        <p:nvSpPr>
          <p:cNvPr id="12" name="Text 10"/>
          <p:cNvSpPr/>
          <p:nvPr/>
        </p:nvSpPr>
        <p:spPr>
          <a:xfrm>
            <a:off x="457200" y="2404872"/>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bcryptjs (Password Hashing)</a:t>
            </a:r>
            <a:endParaRPr lang="en-US" sz="950" dirty="0"/>
          </a:p>
        </p:txBody>
      </p:sp>
      <p:sp>
        <p:nvSpPr>
          <p:cNvPr id="13" name="Text 11"/>
          <p:cNvSpPr/>
          <p:nvPr/>
        </p:nvSpPr>
        <p:spPr>
          <a:xfrm>
            <a:off x="457200" y="2624328"/>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Multer (Image File Upload)</a:t>
            </a:r>
            <a:endParaRPr lang="en-US" sz="950" dirty="0"/>
          </a:p>
        </p:txBody>
      </p:sp>
      <p:sp>
        <p:nvSpPr>
          <p:cNvPr id="14" name="Text 12"/>
          <p:cNvSpPr/>
          <p:nvPr/>
        </p:nvSpPr>
        <p:spPr>
          <a:xfrm>
            <a:off x="457200" y="2843784"/>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connect-flash (Flash Messages)</a:t>
            </a:r>
            <a:endParaRPr lang="en-US" sz="950" dirty="0"/>
          </a:p>
        </p:txBody>
      </p:sp>
      <p:sp>
        <p:nvSpPr>
          <p:cNvPr id="15" name="Shape 13"/>
          <p:cNvSpPr/>
          <p:nvPr/>
        </p:nvSpPr>
        <p:spPr>
          <a:xfrm>
            <a:off x="4736592" y="1508760"/>
            <a:ext cx="4251960" cy="384048"/>
          </a:xfrm>
          <a:prstGeom prst="rect">
            <a:avLst/>
          </a:prstGeom>
          <a:solidFill>
            <a:srgbClr val="00C9A7"/>
          </a:solidFill>
          <a:ln w="12700">
            <a:solidFill>
              <a:srgbClr val="00C9A7"/>
            </a:solidFill>
            <a:prstDash val="solid"/>
          </a:ln>
        </p:spPr>
      </p:sp>
      <p:sp>
        <p:nvSpPr>
          <p:cNvPr id="16" name="Text 14"/>
          <p:cNvSpPr/>
          <p:nvPr/>
        </p:nvSpPr>
        <p:spPr>
          <a:xfrm>
            <a:off x="4873752" y="1508760"/>
            <a:ext cx="4023360" cy="384048"/>
          </a:xfrm>
          <a:prstGeom prst="rect">
            <a:avLst/>
          </a:prstGeom>
          <a:noFill/>
          <a:ln/>
        </p:spPr>
        <p:txBody>
          <a:bodyPr wrap="square" lIns="0" tIns="0" rIns="0" bIns="0" rtlCol="0" anchor="ctr"/>
          <a:lstStyle/>
          <a:p>
            <a:pPr marL="0" indent="0">
              <a:buNone/>
            </a:pPr>
            <a:r>
              <a:rPr lang="en-US" sz="1300" b="1" dirty="0">
                <a:solidFill>
                  <a:srgbClr val="FFFFFF"/>
                </a:solidFill>
              </a:rPr>
              <a:t>Frontend</a:t>
            </a:r>
            <a:endParaRPr lang="en-US" sz="1300" dirty="0"/>
          </a:p>
        </p:txBody>
      </p:sp>
      <p:sp>
        <p:nvSpPr>
          <p:cNvPr id="17" name="Shape 15"/>
          <p:cNvSpPr/>
          <p:nvPr/>
        </p:nvSpPr>
        <p:spPr>
          <a:xfrm>
            <a:off x="4736592" y="1892808"/>
            <a:ext cx="4251960" cy="1234440"/>
          </a:xfrm>
          <a:prstGeom prst="rect">
            <a:avLst/>
          </a:prstGeom>
          <a:solidFill>
            <a:srgbClr val="122840"/>
          </a:solidFill>
          <a:ln w="3810">
            <a:solidFill>
              <a:srgbClr val="CBD5E1"/>
            </a:solidFill>
            <a:prstDash val="solid"/>
          </a:ln>
        </p:spPr>
      </p:sp>
      <p:sp>
        <p:nvSpPr>
          <p:cNvPr id="18" name="Text 16"/>
          <p:cNvSpPr/>
          <p:nvPr/>
        </p:nvSpPr>
        <p:spPr>
          <a:xfrm>
            <a:off x="4919472" y="1965960"/>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EJS (Server-side Templating)</a:t>
            </a:r>
            <a:endParaRPr lang="en-US" sz="950" dirty="0"/>
          </a:p>
        </p:txBody>
      </p:sp>
      <p:sp>
        <p:nvSpPr>
          <p:cNvPr id="19" name="Text 17"/>
          <p:cNvSpPr/>
          <p:nvPr/>
        </p:nvSpPr>
        <p:spPr>
          <a:xfrm>
            <a:off x="4919472" y="2185416"/>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Custom CSS3 (800+ lines)</a:t>
            </a:r>
            <a:endParaRPr lang="en-US" sz="950" dirty="0"/>
          </a:p>
        </p:txBody>
      </p:sp>
      <p:sp>
        <p:nvSpPr>
          <p:cNvPr id="20" name="Text 18"/>
          <p:cNvSpPr/>
          <p:nvPr/>
        </p:nvSpPr>
        <p:spPr>
          <a:xfrm>
            <a:off x="4919472" y="2404872"/>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Vanilla JavaScript</a:t>
            </a:r>
            <a:endParaRPr lang="en-US" sz="950" dirty="0"/>
          </a:p>
        </p:txBody>
      </p:sp>
      <p:sp>
        <p:nvSpPr>
          <p:cNvPr id="21" name="Text 19"/>
          <p:cNvSpPr/>
          <p:nvPr/>
        </p:nvSpPr>
        <p:spPr>
          <a:xfrm>
            <a:off x="4919472" y="2624328"/>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Google Fonts — Inter + Poppins</a:t>
            </a:r>
            <a:endParaRPr lang="en-US" sz="950" dirty="0"/>
          </a:p>
        </p:txBody>
      </p:sp>
      <p:sp>
        <p:nvSpPr>
          <p:cNvPr id="22" name="Text 20"/>
          <p:cNvSpPr/>
          <p:nvPr/>
        </p:nvSpPr>
        <p:spPr>
          <a:xfrm>
            <a:off x="4919472" y="2843784"/>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Responsive Design (Mobile-first)</a:t>
            </a:r>
            <a:endParaRPr lang="en-US" sz="950" dirty="0"/>
          </a:p>
        </p:txBody>
      </p:sp>
      <p:sp>
        <p:nvSpPr>
          <p:cNvPr id="23" name="Shape 21"/>
          <p:cNvSpPr/>
          <p:nvPr/>
        </p:nvSpPr>
        <p:spPr>
          <a:xfrm>
            <a:off x="274320" y="3246120"/>
            <a:ext cx="4251960" cy="384048"/>
          </a:xfrm>
          <a:prstGeom prst="rect">
            <a:avLst/>
          </a:prstGeom>
          <a:solidFill>
            <a:srgbClr val="FF6B35"/>
          </a:solidFill>
          <a:ln w="12700">
            <a:solidFill>
              <a:srgbClr val="FF6B35"/>
            </a:solidFill>
            <a:prstDash val="solid"/>
          </a:ln>
        </p:spPr>
      </p:sp>
      <p:sp>
        <p:nvSpPr>
          <p:cNvPr id="24" name="Text 22"/>
          <p:cNvSpPr/>
          <p:nvPr/>
        </p:nvSpPr>
        <p:spPr>
          <a:xfrm>
            <a:off x="411480" y="3246120"/>
            <a:ext cx="4023360" cy="384048"/>
          </a:xfrm>
          <a:prstGeom prst="rect">
            <a:avLst/>
          </a:prstGeom>
          <a:noFill/>
          <a:ln/>
        </p:spPr>
        <p:txBody>
          <a:bodyPr wrap="square" lIns="0" tIns="0" rIns="0" bIns="0" rtlCol="0" anchor="ctr"/>
          <a:lstStyle/>
          <a:p>
            <a:pPr marL="0" indent="0">
              <a:buNone/>
            </a:pPr>
            <a:r>
              <a:rPr lang="en-US" sz="1300" b="1" dirty="0">
                <a:solidFill>
                  <a:srgbClr val="FFFFFF"/>
                </a:solidFill>
              </a:rPr>
              <a:t>Database</a:t>
            </a:r>
            <a:endParaRPr lang="en-US" sz="1300" dirty="0"/>
          </a:p>
        </p:txBody>
      </p:sp>
      <p:sp>
        <p:nvSpPr>
          <p:cNvPr id="25" name="Shape 23"/>
          <p:cNvSpPr/>
          <p:nvPr/>
        </p:nvSpPr>
        <p:spPr>
          <a:xfrm>
            <a:off x="274320" y="3630168"/>
            <a:ext cx="4251960" cy="1234440"/>
          </a:xfrm>
          <a:prstGeom prst="rect">
            <a:avLst/>
          </a:prstGeom>
          <a:solidFill>
            <a:srgbClr val="122840"/>
          </a:solidFill>
          <a:ln w="3810">
            <a:solidFill>
              <a:srgbClr val="CBD5E1"/>
            </a:solidFill>
            <a:prstDash val="solid"/>
          </a:ln>
        </p:spPr>
      </p:sp>
      <p:sp>
        <p:nvSpPr>
          <p:cNvPr id="26" name="Text 24"/>
          <p:cNvSpPr/>
          <p:nvPr/>
        </p:nvSpPr>
        <p:spPr>
          <a:xfrm>
            <a:off x="457200" y="3703320"/>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MongoDB (NoSQL Database)</a:t>
            </a:r>
            <a:endParaRPr lang="en-US" sz="950" dirty="0"/>
          </a:p>
        </p:txBody>
      </p:sp>
      <p:sp>
        <p:nvSpPr>
          <p:cNvPr id="27" name="Text 25"/>
          <p:cNvSpPr/>
          <p:nvPr/>
        </p:nvSpPr>
        <p:spPr>
          <a:xfrm>
            <a:off x="457200" y="3922776"/>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Mongoose ODM (Schema + Queries)</a:t>
            </a:r>
            <a:endParaRPr lang="en-US" sz="950" dirty="0"/>
          </a:p>
        </p:txBody>
      </p:sp>
      <p:sp>
        <p:nvSpPr>
          <p:cNvPr id="28" name="Text 26"/>
          <p:cNvSpPr/>
          <p:nvPr/>
        </p:nvSpPr>
        <p:spPr>
          <a:xfrm>
            <a:off x="457200" y="4142232"/>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3 Models: User, Listing, Message</a:t>
            </a:r>
            <a:endParaRPr lang="en-US" sz="950" dirty="0"/>
          </a:p>
        </p:txBody>
      </p:sp>
      <p:sp>
        <p:nvSpPr>
          <p:cNvPr id="29" name="Text 27"/>
          <p:cNvSpPr/>
          <p:nvPr/>
        </p:nvSpPr>
        <p:spPr>
          <a:xfrm>
            <a:off x="457200" y="4361688"/>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connect-mongo (Session Store)</a:t>
            </a:r>
            <a:endParaRPr lang="en-US" sz="950" dirty="0"/>
          </a:p>
        </p:txBody>
      </p:sp>
      <p:sp>
        <p:nvSpPr>
          <p:cNvPr id="30" name="Text 28"/>
          <p:cNvSpPr/>
          <p:nvPr/>
        </p:nvSpPr>
        <p:spPr>
          <a:xfrm>
            <a:off x="457200" y="4581144"/>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dotenv (Environment Config)</a:t>
            </a:r>
            <a:endParaRPr lang="en-US" sz="950" dirty="0"/>
          </a:p>
        </p:txBody>
      </p:sp>
      <p:sp>
        <p:nvSpPr>
          <p:cNvPr id="31" name="Shape 29"/>
          <p:cNvSpPr/>
          <p:nvPr/>
        </p:nvSpPr>
        <p:spPr>
          <a:xfrm>
            <a:off x="4736592" y="3246120"/>
            <a:ext cx="4251960" cy="384048"/>
          </a:xfrm>
          <a:prstGeom prst="rect">
            <a:avLst/>
          </a:prstGeom>
          <a:solidFill>
            <a:srgbClr val="7C4DFF"/>
          </a:solidFill>
          <a:ln w="12700">
            <a:solidFill>
              <a:srgbClr val="7C4DFF"/>
            </a:solidFill>
            <a:prstDash val="solid"/>
          </a:ln>
        </p:spPr>
      </p:sp>
      <p:sp>
        <p:nvSpPr>
          <p:cNvPr id="32" name="Text 30"/>
          <p:cNvSpPr/>
          <p:nvPr/>
        </p:nvSpPr>
        <p:spPr>
          <a:xfrm>
            <a:off x="4873752" y="3246120"/>
            <a:ext cx="4023360" cy="384048"/>
          </a:xfrm>
          <a:prstGeom prst="rect">
            <a:avLst/>
          </a:prstGeom>
          <a:noFill/>
          <a:ln/>
        </p:spPr>
        <p:txBody>
          <a:bodyPr wrap="square" lIns="0" tIns="0" rIns="0" bIns="0" rtlCol="0" anchor="ctr"/>
          <a:lstStyle/>
          <a:p>
            <a:pPr marL="0" indent="0">
              <a:buNone/>
            </a:pPr>
            <a:r>
              <a:rPr lang="en-US" sz="1300" b="1" dirty="0">
                <a:solidFill>
                  <a:srgbClr val="FFFFFF"/>
                </a:solidFill>
              </a:rPr>
              <a:t>AI &amp; Tools</a:t>
            </a:r>
            <a:endParaRPr lang="en-US" sz="1300" dirty="0"/>
          </a:p>
        </p:txBody>
      </p:sp>
      <p:sp>
        <p:nvSpPr>
          <p:cNvPr id="33" name="Shape 31"/>
          <p:cNvSpPr/>
          <p:nvPr/>
        </p:nvSpPr>
        <p:spPr>
          <a:xfrm>
            <a:off x="4736592" y="3630168"/>
            <a:ext cx="4251960" cy="1234440"/>
          </a:xfrm>
          <a:prstGeom prst="rect">
            <a:avLst/>
          </a:prstGeom>
          <a:solidFill>
            <a:srgbClr val="122840"/>
          </a:solidFill>
          <a:ln w="3810">
            <a:solidFill>
              <a:srgbClr val="CBD5E1"/>
            </a:solidFill>
            <a:prstDash val="solid"/>
          </a:ln>
        </p:spPr>
      </p:sp>
      <p:sp>
        <p:nvSpPr>
          <p:cNvPr id="34" name="Text 32"/>
          <p:cNvSpPr/>
          <p:nvPr/>
        </p:nvSpPr>
        <p:spPr>
          <a:xfrm>
            <a:off x="4919472" y="3703320"/>
            <a:ext cx="3931920" cy="210312"/>
          </a:xfrm>
          <a:prstGeom prst="rect">
            <a:avLst/>
          </a:prstGeom>
          <a:noFill/>
          <a:ln/>
        </p:spPr>
        <p:txBody>
          <a:bodyPr wrap="square" lIns="0" tIns="0" rIns="0" bIns="0" rtlCol="0" anchor="ctr"/>
          <a:lstStyle/>
          <a:p>
            <a:pPr marL="342900" indent="-342900">
              <a:buSzPct val="100000"/>
              <a:buChar char="•"/>
            </a:pPr>
            <a:r>
              <a:rPr lang="en-US" sz="950" dirty="0" err="1">
                <a:solidFill>
                  <a:srgbClr val="CBD5E1"/>
                </a:solidFill>
              </a:rPr>
              <a:t>Github</a:t>
            </a:r>
            <a:r>
              <a:rPr lang="en-US" sz="950" dirty="0">
                <a:solidFill>
                  <a:srgbClr val="CBD5E1"/>
                </a:solidFill>
              </a:rPr>
              <a:t> copilot (Code Generation)</a:t>
            </a:r>
            <a:endParaRPr lang="en-US" sz="950" dirty="0"/>
          </a:p>
        </p:txBody>
      </p:sp>
      <p:sp>
        <p:nvSpPr>
          <p:cNvPr id="35" name="Text 33"/>
          <p:cNvSpPr/>
          <p:nvPr/>
        </p:nvSpPr>
        <p:spPr>
          <a:xfrm>
            <a:off x="4919472" y="3922776"/>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Prompt Engineering Techniques</a:t>
            </a:r>
            <a:endParaRPr lang="en-US" sz="950" dirty="0"/>
          </a:p>
        </p:txBody>
      </p:sp>
      <p:sp>
        <p:nvSpPr>
          <p:cNvPr id="36" name="Text 34"/>
          <p:cNvSpPr/>
          <p:nvPr/>
        </p:nvSpPr>
        <p:spPr>
          <a:xfrm>
            <a:off x="4919472" y="4142232"/>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VS Code (Code Editor)</a:t>
            </a:r>
            <a:endParaRPr lang="en-US" sz="950" dirty="0"/>
          </a:p>
        </p:txBody>
      </p:sp>
      <p:sp>
        <p:nvSpPr>
          <p:cNvPr id="37" name="Text 35"/>
          <p:cNvSpPr/>
          <p:nvPr/>
        </p:nvSpPr>
        <p:spPr>
          <a:xfrm>
            <a:off x="4919472" y="4361688"/>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Git &amp; GitHub (Version Control)</a:t>
            </a:r>
            <a:endParaRPr lang="en-US" sz="950" dirty="0"/>
          </a:p>
        </p:txBody>
      </p:sp>
      <p:sp>
        <p:nvSpPr>
          <p:cNvPr id="38" name="Text 36"/>
          <p:cNvSpPr/>
          <p:nvPr/>
        </p:nvSpPr>
        <p:spPr>
          <a:xfrm>
            <a:off x="4919472" y="4581144"/>
            <a:ext cx="3931920" cy="210312"/>
          </a:xfrm>
          <a:prstGeom prst="rect">
            <a:avLst/>
          </a:prstGeom>
          <a:noFill/>
          <a:ln/>
        </p:spPr>
        <p:txBody>
          <a:bodyPr wrap="square" lIns="0" tIns="0" rIns="0" bIns="0" rtlCol="0" anchor="ctr"/>
          <a:lstStyle/>
          <a:p>
            <a:pPr marL="342900" indent="-342900">
              <a:buSzPct val="100000"/>
              <a:buChar char="•"/>
            </a:pPr>
            <a:r>
              <a:rPr lang="en-US" sz="950" dirty="0">
                <a:solidFill>
                  <a:srgbClr val="CBD5E1"/>
                </a:solidFill>
              </a:rPr>
              <a:t>MongoDB Compass (DB GUI)</a:t>
            </a:r>
            <a:endParaRPr lang="en-US" sz="950" dirty="0"/>
          </a:p>
        </p:txBody>
      </p:sp>
      <p:sp>
        <p:nvSpPr>
          <p:cNvPr id="39" name="Text 37"/>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6  |  PROMPTS  (1 of 2)</a:t>
            </a:r>
            <a:endParaRPr lang="en-US" sz="900" dirty="0"/>
          </a:p>
        </p:txBody>
      </p:sp>
      <p:sp>
        <p:nvSpPr>
          <p:cNvPr id="6" name="Text 4"/>
          <p:cNvSpPr/>
          <p:nvPr/>
        </p:nvSpPr>
        <p:spPr>
          <a:xfrm>
            <a:off x="320040" y="594360"/>
            <a:ext cx="8503920" cy="640080"/>
          </a:xfrm>
          <a:prstGeom prst="rect">
            <a:avLst/>
          </a:prstGeom>
          <a:noFill/>
          <a:ln/>
        </p:spPr>
        <p:txBody>
          <a:bodyPr wrap="square" lIns="0" tIns="0" rIns="0" bIns="0" rtlCol="0" anchor="ctr"/>
          <a:lstStyle/>
          <a:p>
            <a:pPr marL="0" indent="0">
              <a:buNone/>
            </a:pPr>
            <a:r>
              <a:rPr lang="en-US" sz="3400" b="1" dirty="0">
                <a:solidFill>
                  <a:srgbClr val="0B1F3A"/>
                </a:solidFill>
                <a:latin typeface="Georgia" pitchFamily="34" charset="0"/>
                <a:ea typeface="Georgia" pitchFamily="34" charset="-122"/>
                <a:cs typeface="Georgia" pitchFamily="34" charset="-120"/>
              </a:rPr>
              <a:t>Prompts Used to Generate the Code</a:t>
            </a:r>
            <a:endParaRPr lang="en-US" sz="3400" dirty="0"/>
          </a:p>
        </p:txBody>
      </p:sp>
      <p:sp>
        <p:nvSpPr>
          <p:cNvPr id="7" name="Shape 5"/>
          <p:cNvSpPr/>
          <p:nvPr/>
        </p:nvSpPr>
        <p:spPr>
          <a:xfrm>
            <a:off x="320040" y="1371600"/>
            <a:ext cx="8503920" cy="768096"/>
          </a:xfrm>
          <a:prstGeom prst="rect">
            <a:avLst/>
          </a:prstGeom>
          <a:solidFill>
            <a:srgbClr val="0B1F3A"/>
          </a:solidFill>
          <a:ln w="12700">
            <a:solidFill>
              <a:srgbClr val="0B1F3A"/>
            </a:solidFill>
            <a:prstDash val="solid"/>
          </a:ln>
        </p:spPr>
      </p:sp>
      <p:sp>
        <p:nvSpPr>
          <p:cNvPr id="8" name="Shape 6"/>
          <p:cNvSpPr/>
          <p:nvPr/>
        </p:nvSpPr>
        <p:spPr>
          <a:xfrm>
            <a:off x="320040" y="1371600"/>
            <a:ext cx="640080" cy="768096"/>
          </a:xfrm>
          <a:prstGeom prst="rect">
            <a:avLst/>
          </a:prstGeom>
          <a:solidFill>
            <a:srgbClr val="FF6B35"/>
          </a:solidFill>
          <a:ln w="12700">
            <a:solidFill>
              <a:srgbClr val="FF6B35"/>
            </a:solidFill>
            <a:prstDash val="solid"/>
          </a:ln>
        </p:spPr>
      </p:sp>
      <p:sp>
        <p:nvSpPr>
          <p:cNvPr id="9" name="Text 7"/>
          <p:cNvSpPr/>
          <p:nvPr/>
        </p:nvSpPr>
        <p:spPr>
          <a:xfrm>
            <a:off x="320040" y="1371600"/>
            <a:ext cx="640080" cy="768096"/>
          </a:xfrm>
          <a:prstGeom prst="rect">
            <a:avLst/>
          </a:prstGeom>
          <a:noFill/>
          <a:ln/>
        </p:spPr>
        <p:txBody>
          <a:bodyPr wrap="square" lIns="0" tIns="0" rIns="0" bIns="0" rtlCol="0" anchor="ctr"/>
          <a:lstStyle/>
          <a:p>
            <a:pPr marL="0" indent="0" algn="ctr">
              <a:buNone/>
            </a:pPr>
            <a:r>
              <a:rPr lang="en-US" sz="1400" b="1" dirty="0">
                <a:solidFill>
                  <a:srgbClr val="FFFFFF"/>
                </a:solidFill>
              </a:rPr>
              <a:t>P1</a:t>
            </a:r>
            <a:endParaRPr lang="en-US" sz="1400" dirty="0"/>
          </a:p>
        </p:txBody>
      </p:sp>
      <p:sp>
        <p:nvSpPr>
          <p:cNvPr id="10" name="Text 8"/>
          <p:cNvSpPr/>
          <p:nvPr/>
        </p:nvSpPr>
        <p:spPr>
          <a:xfrm>
            <a:off x="1078992" y="1444752"/>
            <a:ext cx="7635240" cy="237744"/>
          </a:xfrm>
          <a:prstGeom prst="rect">
            <a:avLst/>
          </a:prstGeom>
          <a:noFill/>
          <a:ln/>
        </p:spPr>
        <p:txBody>
          <a:bodyPr wrap="square" lIns="0" tIns="0" rIns="0" bIns="0" rtlCol="0" anchor="ctr"/>
          <a:lstStyle/>
          <a:p>
            <a:pPr marL="0" indent="0">
              <a:buNone/>
            </a:pPr>
            <a:r>
              <a:rPr lang="en-US" sz="1150" b="1" dirty="0">
                <a:solidFill>
                  <a:srgbClr val="00C9A7"/>
                </a:solidFill>
              </a:rPr>
              <a:t>Project Setup</a:t>
            </a:r>
            <a:endParaRPr lang="en-US" sz="1150" dirty="0"/>
          </a:p>
        </p:txBody>
      </p:sp>
      <p:sp>
        <p:nvSpPr>
          <p:cNvPr id="11" name="Text 9"/>
          <p:cNvSpPr/>
          <p:nvPr/>
        </p:nvSpPr>
        <p:spPr>
          <a:xfrm>
            <a:off x="1078992" y="1719072"/>
            <a:ext cx="7635240" cy="384048"/>
          </a:xfrm>
          <a:prstGeom prst="rect">
            <a:avLst/>
          </a:prstGeom>
          <a:noFill/>
          <a:ln/>
        </p:spPr>
        <p:txBody>
          <a:bodyPr wrap="square" lIns="0" tIns="0" rIns="0" bIns="0" rtlCol="0" anchor="ctr"/>
          <a:lstStyle/>
          <a:p>
            <a:pPr marL="0" indent="0">
              <a:buNone/>
            </a:pPr>
            <a:r>
              <a:rPr lang="en-US" sz="850" i="1" dirty="0">
                <a:solidFill>
                  <a:srgbClr val="CBD5E1"/>
                </a:solidFill>
              </a:rPr>
              <a:t>"Provide a fully functional, production-level full-stack web application for a Pet Adoption &amp; Marketplace System using Node.js (Express) and MongoDB. Support two user types (Admin and Customer) with authentication, role-based access, and complete CRUD operations."</a:t>
            </a:r>
            <a:endParaRPr lang="en-US" sz="850" dirty="0"/>
          </a:p>
        </p:txBody>
      </p:sp>
      <p:sp>
        <p:nvSpPr>
          <p:cNvPr id="12" name="Shape 10"/>
          <p:cNvSpPr/>
          <p:nvPr/>
        </p:nvSpPr>
        <p:spPr>
          <a:xfrm>
            <a:off x="320040" y="2267712"/>
            <a:ext cx="8503920" cy="768096"/>
          </a:xfrm>
          <a:prstGeom prst="rect">
            <a:avLst/>
          </a:prstGeom>
          <a:solidFill>
            <a:srgbClr val="0B1F3A"/>
          </a:solidFill>
          <a:ln w="12700">
            <a:solidFill>
              <a:srgbClr val="0B1F3A"/>
            </a:solidFill>
            <a:prstDash val="solid"/>
          </a:ln>
        </p:spPr>
      </p:sp>
      <p:sp>
        <p:nvSpPr>
          <p:cNvPr id="13" name="Shape 11"/>
          <p:cNvSpPr/>
          <p:nvPr/>
        </p:nvSpPr>
        <p:spPr>
          <a:xfrm>
            <a:off x="320040" y="2267712"/>
            <a:ext cx="640080" cy="768096"/>
          </a:xfrm>
          <a:prstGeom prst="rect">
            <a:avLst/>
          </a:prstGeom>
          <a:solidFill>
            <a:srgbClr val="FF6B35"/>
          </a:solidFill>
          <a:ln w="12700">
            <a:solidFill>
              <a:srgbClr val="FF6B35"/>
            </a:solidFill>
            <a:prstDash val="solid"/>
          </a:ln>
        </p:spPr>
      </p:sp>
      <p:sp>
        <p:nvSpPr>
          <p:cNvPr id="14" name="Text 12"/>
          <p:cNvSpPr/>
          <p:nvPr/>
        </p:nvSpPr>
        <p:spPr>
          <a:xfrm>
            <a:off x="320040" y="2267712"/>
            <a:ext cx="640080" cy="768096"/>
          </a:xfrm>
          <a:prstGeom prst="rect">
            <a:avLst/>
          </a:prstGeom>
          <a:noFill/>
          <a:ln/>
        </p:spPr>
        <p:txBody>
          <a:bodyPr wrap="square" lIns="0" tIns="0" rIns="0" bIns="0" rtlCol="0" anchor="ctr"/>
          <a:lstStyle/>
          <a:p>
            <a:pPr marL="0" indent="0" algn="ctr">
              <a:buNone/>
            </a:pPr>
            <a:r>
              <a:rPr lang="en-US" sz="1400" b="1" dirty="0">
                <a:solidFill>
                  <a:srgbClr val="FFFFFF"/>
                </a:solidFill>
              </a:rPr>
              <a:t>P2</a:t>
            </a:r>
            <a:endParaRPr lang="en-US" sz="1400" dirty="0"/>
          </a:p>
        </p:txBody>
      </p:sp>
      <p:sp>
        <p:nvSpPr>
          <p:cNvPr id="15" name="Text 13"/>
          <p:cNvSpPr/>
          <p:nvPr/>
        </p:nvSpPr>
        <p:spPr>
          <a:xfrm>
            <a:off x="1078992" y="2340864"/>
            <a:ext cx="7635240" cy="237744"/>
          </a:xfrm>
          <a:prstGeom prst="rect">
            <a:avLst/>
          </a:prstGeom>
          <a:noFill/>
          <a:ln/>
        </p:spPr>
        <p:txBody>
          <a:bodyPr wrap="square" lIns="0" tIns="0" rIns="0" bIns="0" rtlCol="0" anchor="ctr"/>
          <a:lstStyle/>
          <a:p>
            <a:pPr marL="0" indent="0">
              <a:buNone/>
            </a:pPr>
            <a:r>
              <a:rPr lang="en-US" sz="1150" b="1" dirty="0">
                <a:solidFill>
                  <a:srgbClr val="00C9A7"/>
                </a:solidFill>
              </a:rPr>
              <a:t>OLX-style Redesign</a:t>
            </a:r>
            <a:endParaRPr lang="en-US" sz="1150" dirty="0"/>
          </a:p>
        </p:txBody>
      </p:sp>
      <p:sp>
        <p:nvSpPr>
          <p:cNvPr id="16" name="Text 14"/>
          <p:cNvSpPr/>
          <p:nvPr/>
        </p:nvSpPr>
        <p:spPr>
          <a:xfrm>
            <a:off x="1078992" y="2615184"/>
            <a:ext cx="7635240" cy="384048"/>
          </a:xfrm>
          <a:prstGeom prst="rect">
            <a:avLst/>
          </a:prstGeom>
          <a:noFill/>
          <a:ln/>
        </p:spPr>
        <p:txBody>
          <a:bodyPr wrap="square" lIns="0" tIns="0" rIns="0" bIns="0" rtlCol="0" anchor="ctr"/>
          <a:lstStyle/>
          <a:p>
            <a:pPr marL="0" indent="0">
              <a:buNone/>
            </a:pPr>
            <a:r>
              <a:rPr lang="en-US" sz="850" i="1" dirty="0">
                <a:solidFill>
                  <a:srgbClr val="CBD5E1"/>
                </a:solidFill>
              </a:rPr>
              <a:t>"I want the website like an OLX app where if they want they can sell them and buy the pets like their wish. First the login page with forgot password option, home page with all options of pets displayed, budget page, wishlist page, add pets, chat page, my ads page, account page."</a:t>
            </a:r>
            <a:endParaRPr lang="en-US" sz="850" dirty="0"/>
          </a:p>
        </p:txBody>
      </p:sp>
      <p:sp>
        <p:nvSpPr>
          <p:cNvPr id="17" name="Shape 15"/>
          <p:cNvSpPr/>
          <p:nvPr/>
        </p:nvSpPr>
        <p:spPr>
          <a:xfrm>
            <a:off x="320040" y="3163824"/>
            <a:ext cx="8503920" cy="768096"/>
          </a:xfrm>
          <a:prstGeom prst="rect">
            <a:avLst/>
          </a:prstGeom>
          <a:solidFill>
            <a:srgbClr val="0B1F3A"/>
          </a:solidFill>
          <a:ln w="12700">
            <a:solidFill>
              <a:srgbClr val="0B1F3A"/>
            </a:solidFill>
            <a:prstDash val="solid"/>
          </a:ln>
        </p:spPr>
      </p:sp>
      <p:sp>
        <p:nvSpPr>
          <p:cNvPr id="18" name="Shape 16"/>
          <p:cNvSpPr/>
          <p:nvPr/>
        </p:nvSpPr>
        <p:spPr>
          <a:xfrm>
            <a:off x="320040" y="3163824"/>
            <a:ext cx="640080" cy="768096"/>
          </a:xfrm>
          <a:prstGeom prst="rect">
            <a:avLst/>
          </a:prstGeom>
          <a:solidFill>
            <a:srgbClr val="FF6B35"/>
          </a:solidFill>
          <a:ln w="12700">
            <a:solidFill>
              <a:srgbClr val="FF6B35"/>
            </a:solidFill>
            <a:prstDash val="solid"/>
          </a:ln>
        </p:spPr>
      </p:sp>
      <p:sp>
        <p:nvSpPr>
          <p:cNvPr id="19" name="Text 17"/>
          <p:cNvSpPr/>
          <p:nvPr/>
        </p:nvSpPr>
        <p:spPr>
          <a:xfrm>
            <a:off x="320040" y="3163824"/>
            <a:ext cx="640080" cy="768096"/>
          </a:xfrm>
          <a:prstGeom prst="rect">
            <a:avLst/>
          </a:prstGeom>
          <a:noFill/>
          <a:ln/>
        </p:spPr>
        <p:txBody>
          <a:bodyPr wrap="square" lIns="0" tIns="0" rIns="0" bIns="0" rtlCol="0" anchor="ctr"/>
          <a:lstStyle/>
          <a:p>
            <a:pPr marL="0" indent="0" algn="ctr">
              <a:buNone/>
            </a:pPr>
            <a:r>
              <a:rPr lang="en-US" sz="1400" b="1" dirty="0">
                <a:solidFill>
                  <a:srgbClr val="FFFFFF"/>
                </a:solidFill>
              </a:rPr>
              <a:t>P3</a:t>
            </a:r>
            <a:endParaRPr lang="en-US" sz="1400" dirty="0"/>
          </a:p>
        </p:txBody>
      </p:sp>
      <p:sp>
        <p:nvSpPr>
          <p:cNvPr id="20" name="Text 18"/>
          <p:cNvSpPr/>
          <p:nvPr/>
        </p:nvSpPr>
        <p:spPr>
          <a:xfrm>
            <a:off x="1078992" y="3236976"/>
            <a:ext cx="7635240" cy="237744"/>
          </a:xfrm>
          <a:prstGeom prst="rect">
            <a:avLst/>
          </a:prstGeom>
          <a:noFill/>
          <a:ln/>
        </p:spPr>
        <p:txBody>
          <a:bodyPr wrap="square" lIns="0" tIns="0" rIns="0" bIns="0" rtlCol="0" anchor="ctr"/>
          <a:lstStyle/>
          <a:p>
            <a:pPr marL="0" indent="0">
              <a:buNone/>
            </a:pPr>
            <a:r>
              <a:rPr lang="en-US" sz="1150" b="1" dirty="0">
                <a:solidFill>
                  <a:srgbClr val="00C9A7"/>
                </a:solidFill>
              </a:rPr>
              <a:t>Feature Fixes — Photos &amp; Gallery</a:t>
            </a:r>
            <a:endParaRPr lang="en-US" sz="1150" dirty="0"/>
          </a:p>
        </p:txBody>
      </p:sp>
      <p:sp>
        <p:nvSpPr>
          <p:cNvPr id="21" name="Text 19"/>
          <p:cNvSpPr/>
          <p:nvPr/>
        </p:nvSpPr>
        <p:spPr>
          <a:xfrm>
            <a:off x="1078992" y="3511296"/>
            <a:ext cx="7635240" cy="384048"/>
          </a:xfrm>
          <a:prstGeom prst="rect">
            <a:avLst/>
          </a:prstGeom>
          <a:noFill/>
          <a:ln/>
        </p:spPr>
        <p:txBody>
          <a:bodyPr wrap="square" lIns="0" tIns="0" rIns="0" bIns="0" rtlCol="0" anchor="ctr"/>
          <a:lstStyle/>
          <a:p>
            <a:pPr marL="0" indent="0">
              <a:buNone/>
            </a:pPr>
            <a:r>
              <a:rPr lang="en-US" sz="850" i="1" dirty="0">
                <a:solidFill>
                  <a:srgbClr val="CBD5E1"/>
                </a:solidFill>
              </a:rPr>
              <a:t>"When I add 2 to 3 photos it should be added and should show full image with left right buttons and remove WhatsApp call option and make budget price range work and rename website as PetConnect."</a:t>
            </a:r>
            <a:endParaRPr lang="en-US" sz="850" dirty="0"/>
          </a:p>
        </p:txBody>
      </p:sp>
      <p:sp>
        <p:nvSpPr>
          <p:cNvPr id="22" name="Shape 20"/>
          <p:cNvSpPr/>
          <p:nvPr/>
        </p:nvSpPr>
        <p:spPr>
          <a:xfrm>
            <a:off x="320040" y="4059936"/>
            <a:ext cx="8503920" cy="768096"/>
          </a:xfrm>
          <a:prstGeom prst="rect">
            <a:avLst/>
          </a:prstGeom>
          <a:solidFill>
            <a:srgbClr val="0B1F3A"/>
          </a:solidFill>
          <a:ln w="12700">
            <a:solidFill>
              <a:srgbClr val="0B1F3A"/>
            </a:solidFill>
            <a:prstDash val="solid"/>
          </a:ln>
        </p:spPr>
      </p:sp>
      <p:sp>
        <p:nvSpPr>
          <p:cNvPr id="23" name="Shape 21"/>
          <p:cNvSpPr/>
          <p:nvPr/>
        </p:nvSpPr>
        <p:spPr>
          <a:xfrm>
            <a:off x="320040" y="4059936"/>
            <a:ext cx="640080" cy="768096"/>
          </a:xfrm>
          <a:prstGeom prst="rect">
            <a:avLst/>
          </a:prstGeom>
          <a:solidFill>
            <a:srgbClr val="FF6B35"/>
          </a:solidFill>
          <a:ln w="12700">
            <a:solidFill>
              <a:srgbClr val="FF6B35"/>
            </a:solidFill>
            <a:prstDash val="solid"/>
          </a:ln>
        </p:spPr>
      </p:sp>
      <p:sp>
        <p:nvSpPr>
          <p:cNvPr id="24" name="Text 22"/>
          <p:cNvSpPr/>
          <p:nvPr/>
        </p:nvSpPr>
        <p:spPr>
          <a:xfrm>
            <a:off x="320040" y="4059936"/>
            <a:ext cx="640080" cy="768096"/>
          </a:xfrm>
          <a:prstGeom prst="rect">
            <a:avLst/>
          </a:prstGeom>
          <a:noFill/>
          <a:ln/>
        </p:spPr>
        <p:txBody>
          <a:bodyPr wrap="square" lIns="0" tIns="0" rIns="0" bIns="0" rtlCol="0" anchor="ctr"/>
          <a:lstStyle/>
          <a:p>
            <a:pPr marL="0" indent="0" algn="ctr">
              <a:buNone/>
            </a:pPr>
            <a:r>
              <a:rPr lang="en-US" sz="1400" b="1" dirty="0">
                <a:solidFill>
                  <a:srgbClr val="FFFFFF"/>
                </a:solidFill>
              </a:rPr>
              <a:t>P4</a:t>
            </a:r>
            <a:endParaRPr lang="en-US" sz="1400" dirty="0"/>
          </a:p>
        </p:txBody>
      </p:sp>
      <p:sp>
        <p:nvSpPr>
          <p:cNvPr id="25" name="Text 23"/>
          <p:cNvSpPr/>
          <p:nvPr/>
        </p:nvSpPr>
        <p:spPr>
          <a:xfrm>
            <a:off x="1078992" y="4133088"/>
            <a:ext cx="7635240" cy="237744"/>
          </a:xfrm>
          <a:prstGeom prst="rect">
            <a:avLst/>
          </a:prstGeom>
          <a:noFill/>
          <a:ln/>
        </p:spPr>
        <p:txBody>
          <a:bodyPr wrap="square" lIns="0" tIns="0" rIns="0" bIns="0" rtlCol="0" anchor="ctr"/>
          <a:lstStyle/>
          <a:p>
            <a:pPr marL="0" indent="0">
              <a:buNone/>
            </a:pPr>
            <a:r>
              <a:rPr lang="en-US" sz="1150" b="1" dirty="0">
                <a:solidFill>
                  <a:srgbClr val="00C9A7"/>
                </a:solidFill>
              </a:rPr>
              <a:t>Error Debugging</a:t>
            </a:r>
            <a:endParaRPr lang="en-US" sz="1150" dirty="0"/>
          </a:p>
        </p:txBody>
      </p:sp>
      <p:sp>
        <p:nvSpPr>
          <p:cNvPr id="26" name="Text 24"/>
          <p:cNvSpPr/>
          <p:nvPr/>
        </p:nvSpPr>
        <p:spPr>
          <a:xfrm>
            <a:off x="1078992" y="4407408"/>
            <a:ext cx="7635240" cy="384048"/>
          </a:xfrm>
          <a:prstGeom prst="rect">
            <a:avLst/>
          </a:prstGeom>
          <a:noFill/>
          <a:ln/>
        </p:spPr>
        <p:txBody>
          <a:bodyPr wrap="square" lIns="0" tIns="0" rIns="0" bIns="0" rtlCol="0" anchor="ctr"/>
          <a:lstStyle/>
          <a:p>
            <a:pPr marL="0" indent="0">
              <a:buNone/>
            </a:pPr>
            <a:r>
              <a:rPr lang="en-US" sz="850" i="1" dirty="0">
                <a:solidFill>
                  <a:srgbClr val="CBD5E1"/>
                </a:solidFill>
              </a:rPr>
              <a:t>"I am getting this error: MongooseError: The uri parameter to openUri() must be a string, got undefined. Make sure the first parameter to mongoose.connect() or mongoose.createConnection() is a string."</a:t>
            </a:r>
            <a:endParaRPr lang="en-US" sz="850" dirty="0"/>
          </a:p>
        </p:txBody>
      </p:sp>
      <p:sp>
        <p:nvSpPr>
          <p:cNvPr id="27" name="Text 25"/>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6  |  PROMPTS  (2 of 2)</a:t>
            </a:r>
            <a:endParaRPr lang="en-US" sz="900" dirty="0"/>
          </a:p>
        </p:txBody>
      </p:sp>
      <p:sp>
        <p:nvSpPr>
          <p:cNvPr id="6" name="Text 4"/>
          <p:cNvSpPr/>
          <p:nvPr/>
        </p:nvSpPr>
        <p:spPr>
          <a:xfrm>
            <a:off x="320040" y="594360"/>
            <a:ext cx="8503920" cy="640080"/>
          </a:xfrm>
          <a:prstGeom prst="rect">
            <a:avLst/>
          </a:prstGeom>
          <a:noFill/>
          <a:ln/>
        </p:spPr>
        <p:txBody>
          <a:bodyPr wrap="square" lIns="0" tIns="0" rIns="0" bIns="0" rtlCol="0" anchor="ctr"/>
          <a:lstStyle/>
          <a:p>
            <a:pPr marL="0" indent="0">
              <a:buNone/>
            </a:pPr>
            <a:r>
              <a:rPr lang="en-US" sz="3400" b="1" dirty="0">
                <a:solidFill>
                  <a:srgbClr val="0B1F3A"/>
                </a:solidFill>
                <a:latin typeface="Georgia" pitchFamily="34" charset="0"/>
                <a:ea typeface="Georgia" pitchFamily="34" charset="-122"/>
                <a:cs typeface="Georgia" pitchFamily="34" charset="-120"/>
              </a:rPr>
              <a:t>More Prompts — Setup &amp; Running</a:t>
            </a:r>
            <a:endParaRPr lang="en-US" sz="3400" dirty="0"/>
          </a:p>
        </p:txBody>
      </p:sp>
      <p:sp>
        <p:nvSpPr>
          <p:cNvPr id="7" name="Shape 5"/>
          <p:cNvSpPr/>
          <p:nvPr/>
        </p:nvSpPr>
        <p:spPr>
          <a:xfrm>
            <a:off x="320040" y="1371600"/>
            <a:ext cx="8503920" cy="768096"/>
          </a:xfrm>
          <a:prstGeom prst="rect">
            <a:avLst/>
          </a:prstGeom>
          <a:solidFill>
            <a:srgbClr val="0B1F3A"/>
          </a:solidFill>
          <a:ln w="12700">
            <a:solidFill>
              <a:srgbClr val="0B1F3A"/>
            </a:solidFill>
            <a:prstDash val="solid"/>
          </a:ln>
        </p:spPr>
      </p:sp>
      <p:sp>
        <p:nvSpPr>
          <p:cNvPr id="8" name="Shape 6"/>
          <p:cNvSpPr/>
          <p:nvPr/>
        </p:nvSpPr>
        <p:spPr>
          <a:xfrm>
            <a:off x="320040" y="1371600"/>
            <a:ext cx="640080" cy="768096"/>
          </a:xfrm>
          <a:prstGeom prst="rect">
            <a:avLst/>
          </a:prstGeom>
          <a:solidFill>
            <a:srgbClr val="0097A7"/>
          </a:solidFill>
          <a:ln w="12700">
            <a:solidFill>
              <a:srgbClr val="0097A7"/>
            </a:solidFill>
            <a:prstDash val="solid"/>
          </a:ln>
        </p:spPr>
      </p:sp>
      <p:sp>
        <p:nvSpPr>
          <p:cNvPr id="9" name="Text 7"/>
          <p:cNvSpPr/>
          <p:nvPr/>
        </p:nvSpPr>
        <p:spPr>
          <a:xfrm>
            <a:off x="320040" y="1371600"/>
            <a:ext cx="640080" cy="768096"/>
          </a:xfrm>
          <a:prstGeom prst="rect">
            <a:avLst/>
          </a:prstGeom>
          <a:noFill/>
          <a:ln/>
        </p:spPr>
        <p:txBody>
          <a:bodyPr wrap="square" lIns="0" tIns="0" rIns="0" bIns="0" rtlCol="0" anchor="ctr"/>
          <a:lstStyle/>
          <a:p>
            <a:pPr marL="0" indent="0" algn="ctr">
              <a:buNone/>
            </a:pPr>
            <a:r>
              <a:rPr lang="en-US" sz="1400" b="1" dirty="0">
                <a:solidFill>
                  <a:srgbClr val="FFFFFF"/>
                </a:solidFill>
              </a:rPr>
              <a:t>P5</a:t>
            </a:r>
            <a:endParaRPr lang="en-US" sz="1400" dirty="0"/>
          </a:p>
        </p:txBody>
      </p:sp>
      <p:sp>
        <p:nvSpPr>
          <p:cNvPr id="10" name="Text 8"/>
          <p:cNvSpPr/>
          <p:nvPr/>
        </p:nvSpPr>
        <p:spPr>
          <a:xfrm>
            <a:off x="1078992" y="1444752"/>
            <a:ext cx="7635240" cy="237744"/>
          </a:xfrm>
          <a:prstGeom prst="rect">
            <a:avLst/>
          </a:prstGeom>
          <a:noFill/>
          <a:ln/>
        </p:spPr>
        <p:txBody>
          <a:bodyPr wrap="square" lIns="0" tIns="0" rIns="0" bIns="0" rtlCol="0" anchor="ctr"/>
          <a:lstStyle/>
          <a:p>
            <a:pPr marL="0" indent="0">
              <a:buNone/>
            </a:pPr>
            <a:r>
              <a:rPr lang="en-US" sz="1150" b="1" dirty="0">
                <a:solidFill>
                  <a:srgbClr val="00C9A7"/>
                </a:solidFill>
              </a:rPr>
              <a:t>Run Instructions</a:t>
            </a:r>
            <a:endParaRPr lang="en-US" sz="1150" dirty="0"/>
          </a:p>
        </p:txBody>
      </p:sp>
      <p:sp>
        <p:nvSpPr>
          <p:cNvPr id="11" name="Text 9"/>
          <p:cNvSpPr/>
          <p:nvPr/>
        </p:nvSpPr>
        <p:spPr>
          <a:xfrm>
            <a:off x="1078992" y="1719072"/>
            <a:ext cx="7635240" cy="384048"/>
          </a:xfrm>
          <a:prstGeom prst="rect">
            <a:avLst/>
          </a:prstGeom>
          <a:noFill/>
          <a:ln/>
        </p:spPr>
        <p:txBody>
          <a:bodyPr wrap="square" lIns="0" tIns="0" rIns="0" bIns="0" rtlCol="0" anchor="ctr"/>
          <a:lstStyle/>
          <a:p>
            <a:pPr marL="0" indent="0">
              <a:buNone/>
            </a:pPr>
            <a:r>
              <a:rPr lang="en-US" sz="850" i="1" dirty="0">
                <a:solidFill>
                  <a:srgbClr val="CBD5E1"/>
                </a:solidFill>
              </a:rPr>
              <a:t>"Tell me each step how to run it — I have downloaded the file and have MongoDB Compass installed. Give me step by step PowerShell instructions from creating .env to npm install to node seed.js to node server.js."</a:t>
            </a:r>
            <a:endParaRPr lang="en-US" sz="850" dirty="0"/>
          </a:p>
        </p:txBody>
      </p:sp>
      <p:sp>
        <p:nvSpPr>
          <p:cNvPr id="12" name="Shape 10"/>
          <p:cNvSpPr/>
          <p:nvPr/>
        </p:nvSpPr>
        <p:spPr>
          <a:xfrm>
            <a:off x="320040" y="2267712"/>
            <a:ext cx="8503920" cy="768096"/>
          </a:xfrm>
          <a:prstGeom prst="rect">
            <a:avLst/>
          </a:prstGeom>
          <a:solidFill>
            <a:srgbClr val="0B1F3A"/>
          </a:solidFill>
          <a:ln w="12700">
            <a:solidFill>
              <a:srgbClr val="0B1F3A"/>
            </a:solidFill>
            <a:prstDash val="solid"/>
          </a:ln>
        </p:spPr>
      </p:sp>
      <p:sp>
        <p:nvSpPr>
          <p:cNvPr id="13" name="Shape 11"/>
          <p:cNvSpPr/>
          <p:nvPr/>
        </p:nvSpPr>
        <p:spPr>
          <a:xfrm>
            <a:off x="320040" y="2267712"/>
            <a:ext cx="640080" cy="768096"/>
          </a:xfrm>
          <a:prstGeom prst="rect">
            <a:avLst/>
          </a:prstGeom>
          <a:solidFill>
            <a:srgbClr val="0097A7"/>
          </a:solidFill>
          <a:ln w="12700">
            <a:solidFill>
              <a:srgbClr val="0097A7"/>
            </a:solidFill>
            <a:prstDash val="solid"/>
          </a:ln>
        </p:spPr>
      </p:sp>
      <p:sp>
        <p:nvSpPr>
          <p:cNvPr id="14" name="Text 12"/>
          <p:cNvSpPr/>
          <p:nvPr/>
        </p:nvSpPr>
        <p:spPr>
          <a:xfrm>
            <a:off x="320040" y="2267712"/>
            <a:ext cx="640080" cy="768096"/>
          </a:xfrm>
          <a:prstGeom prst="rect">
            <a:avLst/>
          </a:prstGeom>
          <a:noFill/>
          <a:ln/>
        </p:spPr>
        <p:txBody>
          <a:bodyPr wrap="square" lIns="0" tIns="0" rIns="0" bIns="0" rtlCol="0" anchor="ctr"/>
          <a:lstStyle/>
          <a:p>
            <a:pPr marL="0" indent="0" algn="ctr">
              <a:buNone/>
            </a:pPr>
            <a:r>
              <a:rPr lang="en-US" sz="1400" b="1" dirty="0">
                <a:solidFill>
                  <a:srgbClr val="FFFFFF"/>
                </a:solidFill>
              </a:rPr>
              <a:t>P6</a:t>
            </a:r>
            <a:endParaRPr lang="en-US" sz="1400" dirty="0"/>
          </a:p>
        </p:txBody>
      </p:sp>
      <p:sp>
        <p:nvSpPr>
          <p:cNvPr id="15" name="Text 13"/>
          <p:cNvSpPr/>
          <p:nvPr/>
        </p:nvSpPr>
        <p:spPr>
          <a:xfrm>
            <a:off x="1078992" y="2340864"/>
            <a:ext cx="7635240" cy="237744"/>
          </a:xfrm>
          <a:prstGeom prst="rect">
            <a:avLst/>
          </a:prstGeom>
          <a:noFill/>
          <a:ln/>
        </p:spPr>
        <p:txBody>
          <a:bodyPr wrap="square" lIns="0" tIns="0" rIns="0" bIns="0" rtlCol="0" anchor="ctr"/>
          <a:lstStyle/>
          <a:p>
            <a:pPr marL="0" indent="0">
              <a:buNone/>
            </a:pPr>
            <a:r>
              <a:rPr lang="en-US" sz="1150" b="1" dirty="0">
                <a:solidFill>
                  <a:srgbClr val="00C9A7"/>
                </a:solidFill>
              </a:rPr>
              <a:t>Forgot Password Fix</a:t>
            </a:r>
            <a:endParaRPr lang="en-US" sz="1150" dirty="0"/>
          </a:p>
        </p:txBody>
      </p:sp>
      <p:sp>
        <p:nvSpPr>
          <p:cNvPr id="16" name="Text 14"/>
          <p:cNvSpPr/>
          <p:nvPr/>
        </p:nvSpPr>
        <p:spPr>
          <a:xfrm>
            <a:off x="1078992" y="2615184"/>
            <a:ext cx="7635240" cy="384048"/>
          </a:xfrm>
          <a:prstGeom prst="rect">
            <a:avLst/>
          </a:prstGeom>
          <a:noFill/>
          <a:ln/>
        </p:spPr>
        <p:txBody>
          <a:bodyPr wrap="square" lIns="0" tIns="0" rIns="0" bIns="0" rtlCol="0" anchor="ctr"/>
          <a:lstStyle/>
          <a:p>
            <a:pPr marL="0" indent="0">
              <a:buNone/>
            </a:pPr>
            <a:r>
              <a:rPr lang="en-US" sz="850" i="1" dirty="0">
                <a:solidFill>
                  <a:srgbClr val="CBD5E1"/>
                </a:solidFill>
              </a:rPr>
              <a:t>"Forgot password is not working make sure to work it. When the user enters their email, generate a reset token and show the clickable reset link directly on screen since we don't have email server configured."</a:t>
            </a:r>
            <a:endParaRPr lang="en-US" sz="850" dirty="0"/>
          </a:p>
        </p:txBody>
      </p:sp>
      <p:sp>
        <p:nvSpPr>
          <p:cNvPr id="17" name="Shape 15"/>
          <p:cNvSpPr/>
          <p:nvPr/>
        </p:nvSpPr>
        <p:spPr>
          <a:xfrm>
            <a:off x="320040" y="3163824"/>
            <a:ext cx="8503920" cy="768096"/>
          </a:xfrm>
          <a:prstGeom prst="rect">
            <a:avLst/>
          </a:prstGeom>
          <a:solidFill>
            <a:srgbClr val="0B1F3A"/>
          </a:solidFill>
          <a:ln w="12700">
            <a:solidFill>
              <a:srgbClr val="0B1F3A"/>
            </a:solidFill>
            <a:prstDash val="solid"/>
          </a:ln>
        </p:spPr>
      </p:sp>
      <p:sp>
        <p:nvSpPr>
          <p:cNvPr id="18" name="Shape 16"/>
          <p:cNvSpPr/>
          <p:nvPr/>
        </p:nvSpPr>
        <p:spPr>
          <a:xfrm>
            <a:off x="320040" y="3163824"/>
            <a:ext cx="640080" cy="768096"/>
          </a:xfrm>
          <a:prstGeom prst="rect">
            <a:avLst/>
          </a:prstGeom>
          <a:solidFill>
            <a:srgbClr val="0097A7"/>
          </a:solidFill>
          <a:ln w="12700">
            <a:solidFill>
              <a:srgbClr val="0097A7"/>
            </a:solidFill>
            <a:prstDash val="solid"/>
          </a:ln>
        </p:spPr>
      </p:sp>
      <p:sp>
        <p:nvSpPr>
          <p:cNvPr id="19" name="Text 17"/>
          <p:cNvSpPr/>
          <p:nvPr/>
        </p:nvSpPr>
        <p:spPr>
          <a:xfrm>
            <a:off x="320040" y="3163824"/>
            <a:ext cx="640080" cy="768096"/>
          </a:xfrm>
          <a:prstGeom prst="rect">
            <a:avLst/>
          </a:prstGeom>
          <a:noFill/>
          <a:ln/>
        </p:spPr>
        <p:txBody>
          <a:bodyPr wrap="square" lIns="0" tIns="0" rIns="0" bIns="0" rtlCol="0" anchor="ctr"/>
          <a:lstStyle/>
          <a:p>
            <a:pPr marL="0" indent="0" algn="ctr">
              <a:buNone/>
            </a:pPr>
            <a:r>
              <a:rPr lang="en-US" sz="1400" b="1" dirty="0">
                <a:solidFill>
                  <a:srgbClr val="FFFFFF"/>
                </a:solidFill>
              </a:rPr>
              <a:t>P7</a:t>
            </a:r>
            <a:endParaRPr lang="en-US" sz="1400" dirty="0"/>
          </a:p>
        </p:txBody>
      </p:sp>
      <p:sp>
        <p:nvSpPr>
          <p:cNvPr id="20" name="Text 18"/>
          <p:cNvSpPr/>
          <p:nvPr/>
        </p:nvSpPr>
        <p:spPr>
          <a:xfrm>
            <a:off x="1078992" y="3236976"/>
            <a:ext cx="7635240" cy="237744"/>
          </a:xfrm>
          <a:prstGeom prst="rect">
            <a:avLst/>
          </a:prstGeom>
          <a:noFill/>
          <a:ln/>
        </p:spPr>
        <p:txBody>
          <a:bodyPr wrap="square" lIns="0" tIns="0" rIns="0" bIns="0" rtlCol="0" anchor="ctr"/>
          <a:lstStyle/>
          <a:p>
            <a:pPr marL="0" indent="0">
              <a:buNone/>
            </a:pPr>
            <a:r>
              <a:rPr lang="en-US" sz="1150" b="1" dirty="0">
                <a:solidFill>
                  <a:srgbClr val="00C9A7"/>
                </a:solidFill>
              </a:rPr>
              <a:t>Seed Script Fix</a:t>
            </a:r>
            <a:endParaRPr lang="en-US" sz="1150" dirty="0"/>
          </a:p>
        </p:txBody>
      </p:sp>
      <p:sp>
        <p:nvSpPr>
          <p:cNvPr id="21" name="Text 19"/>
          <p:cNvSpPr/>
          <p:nvPr/>
        </p:nvSpPr>
        <p:spPr>
          <a:xfrm>
            <a:off x="1078992" y="3511296"/>
            <a:ext cx="7635240" cy="384048"/>
          </a:xfrm>
          <a:prstGeom prst="rect">
            <a:avLst/>
          </a:prstGeom>
          <a:noFill/>
          <a:ln/>
        </p:spPr>
        <p:txBody>
          <a:bodyPr wrap="square" lIns="0" tIns="0" rIns="0" bIns="0" rtlCol="0" anchor="ctr"/>
          <a:lstStyle/>
          <a:p>
            <a:pPr marL="0" indent="0">
              <a:buNone/>
            </a:pPr>
            <a:r>
              <a:rPr lang="en-US" sz="850" i="1" dirty="0">
                <a:solidFill>
                  <a:srgbClr val="CBD5E1"/>
                </a:solidFill>
              </a:rPr>
              <a:t>"ok i fixed this — the error was the .env file was not created. I ran the PowerShell command to create it properly and now node seed.js works and shows Connected to MongoDB and Created 3 accounts."</a:t>
            </a:r>
            <a:endParaRPr lang="en-US" sz="850" dirty="0"/>
          </a:p>
        </p:txBody>
      </p:sp>
      <p:sp>
        <p:nvSpPr>
          <p:cNvPr id="22" name="Shape 20"/>
          <p:cNvSpPr/>
          <p:nvPr/>
        </p:nvSpPr>
        <p:spPr>
          <a:xfrm>
            <a:off x="320040" y="4059936"/>
            <a:ext cx="8503920" cy="768096"/>
          </a:xfrm>
          <a:prstGeom prst="rect">
            <a:avLst/>
          </a:prstGeom>
          <a:solidFill>
            <a:srgbClr val="0B1F3A"/>
          </a:solidFill>
          <a:ln w="12700">
            <a:solidFill>
              <a:srgbClr val="0B1F3A"/>
            </a:solidFill>
            <a:prstDash val="solid"/>
          </a:ln>
        </p:spPr>
      </p:sp>
      <p:sp>
        <p:nvSpPr>
          <p:cNvPr id="23" name="Shape 21"/>
          <p:cNvSpPr/>
          <p:nvPr/>
        </p:nvSpPr>
        <p:spPr>
          <a:xfrm>
            <a:off x="320040" y="4059936"/>
            <a:ext cx="640080" cy="768096"/>
          </a:xfrm>
          <a:prstGeom prst="rect">
            <a:avLst/>
          </a:prstGeom>
          <a:solidFill>
            <a:srgbClr val="0097A7"/>
          </a:solidFill>
          <a:ln w="12700">
            <a:solidFill>
              <a:srgbClr val="0097A7"/>
            </a:solidFill>
            <a:prstDash val="solid"/>
          </a:ln>
        </p:spPr>
      </p:sp>
      <p:sp>
        <p:nvSpPr>
          <p:cNvPr id="24" name="Text 22"/>
          <p:cNvSpPr/>
          <p:nvPr/>
        </p:nvSpPr>
        <p:spPr>
          <a:xfrm>
            <a:off x="320040" y="4059936"/>
            <a:ext cx="640080" cy="768096"/>
          </a:xfrm>
          <a:prstGeom prst="rect">
            <a:avLst/>
          </a:prstGeom>
          <a:noFill/>
          <a:ln/>
        </p:spPr>
        <p:txBody>
          <a:bodyPr wrap="square" lIns="0" tIns="0" rIns="0" bIns="0" rtlCol="0" anchor="ctr"/>
          <a:lstStyle/>
          <a:p>
            <a:pPr marL="0" indent="0" algn="ctr">
              <a:buNone/>
            </a:pPr>
            <a:r>
              <a:rPr lang="en-US" sz="1400" b="1" dirty="0">
                <a:solidFill>
                  <a:srgbClr val="FFFFFF"/>
                </a:solidFill>
              </a:rPr>
              <a:t>P8</a:t>
            </a:r>
            <a:endParaRPr lang="en-US" sz="1400" dirty="0"/>
          </a:p>
        </p:txBody>
      </p:sp>
      <p:sp>
        <p:nvSpPr>
          <p:cNvPr id="25" name="Text 23"/>
          <p:cNvSpPr/>
          <p:nvPr/>
        </p:nvSpPr>
        <p:spPr>
          <a:xfrm>
            <a:off x="1078992" y="4133088"/>
            <a:ext cx="7635240" cy="237744"/>
          </a:xfrm>
          <a:prstGeom prst="rect">
            <a:avLst/>
          </a:prstGeom>
          <a:noFill/>
          <a:ln/>
        </p:spPr>
        <p:txBody>
          <a:bodyPr wrap="square" lIns="0" tIns="0" rIns="0" bIns="0" rtlCol="0" anchor="ctr"/>
          <a:lstStyle/>
          <a:p>
            <a:pPr marL="0" indent="0">
              <a:buNone/>
            </a:pPr>
            <a:r>
              <a:rPr lang="en-US" sz="1150" b="1" dirty="0">
                <a:solidFill>
                  <a:srgbClr val="00C9A7"/>
                </a:solidFill>
              </a:rPr>
              <a:t>PPT Generation</a:t>
            </a:r>
            <a:endParaRPr lang="en-US" sz="1150" dirty="0"/>
          </a:p>
        </p:txBody>
      </p:sp>
      <p:sp>
        <p:nvSpPr>
          <p:cNvPr id="26" name="Text 24"/>
          <p:cNvSpPr/>
          <p:nvPr/>
        </p:nvSpPr>
        <p:spPr>
          <a:xfrm>
            <a:off x="1078992" y="4407408"/>
            <a:ext cx="7635240" cy="384048"/>
          </a:xfrm>
          <a:prstGeom prst="rect">
            <a:avLst/>
          </a:prstGeom>
          <a:noFill/>
          <a:ln/>
        </p:spPr>
        <p:txBody>
          <a:bodyPr wrap="square" lIns="0" tIns="0" rIns="0" bIns="0" rtlCol="0" anchor="ctr"/>
          <a:lstStyle/>
          <a:p>
            <a:pPr marL="0" indent="0">
              <a:buNone/>
            </a:pPr>
            <a:r>
              <a:rPr lang="en-US" sz="850" i="1" dirty="0">
                <a:solidFill>
                  <a:srgbClr val="CBD5E1"/>
                </a:solidFill>
              </a:rPr>
              <a:t>"I need to prepare a PPT for project evaluation. Slides: Title &amp; Team, Introduction, Objectives, Stakeholders, Programming Languages/Tools/Software, All prompts used, Flowchart, Frontend view, Proof of prompts, References."</a:t>
            </a:r>
            <a:endParaRPr lang="en-US" sz="850" dirty="0"/>
          </a:p>
        </p:txBody>
      </p:sp>
      <p:sp>
        <p:nvSpPr>
          <p:cNvPr id="27" name="Text 25"/>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7  |  WORKFLOW</a:t>
            </a:r>
            <a:endParaRPr lang="en-US" sz="900" dirty="0"/>
          </a:p>
        </p:txBody>
      </p:sp>
      <p:sp>
        <p:nvSpPr>
          <p:cNvPr id="6" name="Text 4"/>
          <p:cNvSpPr/>
          <p:nvPr/>
        </p:nvSpPr>
        <p:spPr>
          <a:xfrm>
            <a:off x="320040" y="594360"/>
            <a:ext cx="8503920" cy="749808"/>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System Workflow Flowchart</a:t>
            </a:r>
            <a:endParaRPr lang="en-US" sz="3800" dirty="0"/>
          </a:p>
        </p:txBody>
      </p:sp>
      <p:sp>
        <p:nvSpPr>
          <p:cNvPr id="7" name="Shape 5"/>
          <p:cNvSpPr/>
          <p:nvPr/>
        </p:nvSpPr>
        <p:spPr>
          <a:xfrm>
            <a:off x="201168" y="1444752"/>
            <a:ext cx="1600200" cy="621792"/>
          </a:xfrm>
          <a:prstGeom prst="rect">
            <a:avLst/>
          </a:prstGeom>
          <a:solidFill>
            <a:srgbClr val="0097A7"/>
          </a:solidFill>
          <a:ln w="12700">
            <a:solidFill>
              <a:srgbClr val="0097A7"/>
            </a:solidFill>
            <a:prstDash val="solid"/>
          </a:ln>
        </p:spPr>
      </p:sp>
      <p:sp>
        <p:nvSpPr>
          <p:cNvPr id="8" name="Text 6"/>
          <p:cNvSpPr/>
          <p:nvPr/>
        </p:nvSpPr>
        <p:spPr>
          <a:xfrm>
            <a:off x="201168" y="148132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Visit Site</a:t>
            </a:r>
            <a:endParaRPr lang="en-US" sz="850" dirty="0"/>
          </a:p>
        </p:txBody>
      </p:sp>
      <p:sp>
        <p:nvSpPr>
          <p:cNvPr id="9" name="Text 7"/>
          <p:cNvSpPr/>
          <p:nvPr/>
        </p:nvSpPr>
        <p:spPr>
          <a:xfrm>
            <a:off x="201168" y="177393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Browser → localhost:3000</a:t>
            </a:r>
            <a:endParaRPr lang="en-US" sz="750" dirty="0"/>
          </a:p>
        </p:txBody>
      </p:sp>
      <p:sp>
        <p:nvSpPr>
          <p:cNvPr id="10" name="Shape 8"/>
          <p:cNvSpPr/>
          <p:nvPr/>
        </p:nvSpPr>
        <p:spPr>
          <a:xfrm>
            <a:off x="1801368" y="1719072"/>
            <a:ext cx="155448" cy="54864"/>
          </a:xfrm>
          <a:prstGeom prst="rect">
            <a:avLst/>
          </a:prstGeom>
          <a:solidFill>
            <a:srgbClr val="4A6080"/>
          </a:solidFill>
          <a:ln w="12700">
            <a:solidFill>
              <a:srgbClr val="4A6080"/>
            </a:solidFill>
            <a:prstDash val="solid"/>
          </a:ln>
        </p:spPr>
      </p:sp>
      <p:sp>
        <p:nvSpPr>
          <p:cNvPr id="11" name="Shape 9"/>
          <p:cNvSpPr/>
          <p:nvPr/>
        </p:nvSpPr>
        <p:spPr>
          <a:xfrm>
            <a:off x="1956816" y="1444752"/>
            <a:ext cx="1600200" cy="621792"/>
          </a:xfrm>
          <a:prstGeom prst="rect">
            <a:avLst/>
          </a:prstGeom>
          <a:solidFill>
            <a:srgbClr val="2196F3"/>
          </a:solidFill>
          <a:ln w="12700">
            <a:solidFill>
              <a:srgbClr val="2196F3"/>
            </a:solidFill>
            <a:prstDash val="solid"/>
          </a:ln>
        </p:spPr>
      </p:sp>
      <p:sp>
        <p:nvSpPr>
          <p:cNvPr id="12" name="Text 10"/>
          <p:cNvSpPr/>
          <p:nvPr/>
        </p:nvSpPr>
        <p:spPr>
          <a:xfrm>
            <a:off x="1956816" y="148132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Sign Up / Login</a:t>
            </a:r>
            <a:endParaRPr lang="en-US" sz="850" dirty="0"/>
          </a:p>
        </p:txBody>
      </p:sp>
      <p:sp>
        <p:nvSpPr>
          <p:cNvPr id="13" name="Text 11"/>
          <p:cNvSpPr/>
          <p:nvPr/>
        </p:nvSpPr>
        <p:spPr>
          <a:xfrm>
            <a:off x="1956816" y="177393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Email &amp; Password</a:t>
            </a:r>
            <a:endParaRPr lang="en-US" sz="750" dirty="0"/>
          </a:p>
        </p:txBody>
      </p:sp>
      <p:sp>
        <p:nvSpPr>
          <p:cNvPr id="14" name="Shape 12"/>
          <p:cNvSpPr/>
          <p:nvPr/>
        </p:nvSpPr>
        <p:spPr>
          <a:xfrm>
            <a:off x="3557016" y="1719072"/>
            <a:ext cx="155448" cy="54864"/>
          </a:xfrm>
          <a:prstGeom prst="rect">
            <a:avLst/>
          </a:prstGeom>
          <a:solidFill>
            <a:srgbClr val="4A6080"/>
          </a:solidFill>
          <a:ln w="12700">
            <a:solidFill>
              <a:srgbClr val="4A6080"/>
            </a:solidFill>
            <a:prstDash val="solid"/>
          </a:ln>
        </p:spPr>
      </p:sp>
      <p:sp>
        <p:nvSpPr>
          <p:cNvPr id="15" name="Shape 13"/>
          <p:cNvSpPr/>
          <p:nvPr/>
        </p:nvSpPr>
        <p:spPr>
          <a:xfrm>
            <a:off x="3712464" y="1444752"/>
            <a:ext cx="1600200" cy="621792"/>
          </a:xfrm>
          <a:prstGeom prst="rect">
            <a:avLst/>
          </a:prstGeom>
          <a:solidFill>
            <a:srgbClr val="64748B"/>
          </a:solidFill>
          <a:ln w="12700">
            <a:solidFill>
              <a:srgbClr val="64748B"/>
            </a:solidFill>
            <a:prstDash val="solid"/>
          </a:ln>
        </p:spPr>
      </p:sp>
      <p:sp>
        <p:nvSpPr>
          <p:cNvPr id="16" name="Text 14"/>
          <p:cNvSpPr/>
          <p:nvPr/>
        </p:nvSpPr>
        <p:spPr>
          <a:xfrm>
            <a:off x="3712464" y="148132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Forgot Password?</a:t>
            </a:r>
            <a:endParaRPr lang="en-US" sz="850" dirty="0"/>
          </a:p>
        </p:txBody>
      </p:sp>
      <p:sp>
        <p:nvSpPr>
          <p:cNvPr id="17" name="Text 15"/>
          <p:cNvSpPr/>
          <p:nvPr/>
        </p:nvSpPr>
        <p:spPr>
          <a:xfrm>
            <a:off x="3712464" y="177393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Token → Reset Link</a:t>
            </a:r>
            <a:endParaRPr lang="en-US" sz="750" dirty="0"/>
          </a:p>
        </p:txBody>
      </p:sp>
      <p:sp>
        <p:nvSpPr>
          <p:cNvPr id="18" name="Shape 16"/>
          <p:cNvSpPr/>
          <p:nvPr/>
        </p:nvSpPr>
        <p:spPr>
          <a:xfrm>
            <a:off x="5312664" y="1719072"/>
            <a:ext cx="155448" cy="54864"/>
          </a:xfrm>
          <a:prstGeom prst="rect">
            <a:avLst/>
          </a:prstGeom>
          <a:solidFill>
            <a:srgbClr val="4A6080"/>
          </a:solidFill>
          <a:ln w="12700">
            <a:solidFill>
              <a:srgbClr val="4A6080"/>
            </a:solidFill>
            <a:prstDash val="solid"/>
          </a:ln>
        </p:spPr>
      </p:sp>
      <p:sp>
        <p:nvSpPr>
          <p:cNvPr id="19" name="Shape 17"/>
          <p:cNvSpPr/>
          <p:nvPr/>
        </p:nvSpPr>
        <p:spPr>
          <a:xfrm>
            <a:off x="5468112" y="1444752"/>
            <a:ext cx="1600200" cy="621792"/>
          </a:xfrm>
          <a:prstGeom prst="rect">
            <a:avLst/>
          </a:prstGeom>
          <a:solidFill>
            <a:srgbClr val="7C4DFF"/>
          </a:solidFill>
          <a:ln w="12700">
            <a:solidFill>
              <a:srgbClr val="7C4DFF"/>
            </a:solidFill>
            <a:prstDash val="solid"/>
          </a:ln>
        </p:spPr>
      </p:sp>
      <p:sp>
        <p:nvSpPr>
          <p:cNvPr id="20" name="Text 18"/>
          <p:cNvSpPr/>
          <p:nvPr/>
        </p:nvSpPr>
        <p:spPr>
          <a:xfrm>
            <a:off x="5468112" y="148132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Admin Panel</a:t>
            </a:r>
            <a:endParaRPr lang="en-US" sz="850" dirty="0"/>
          </a:p>
        </p:txBody>
      </p:sp>
      <p:sp>
        <p:nvSpPr>
          <p:cNvPr id="21" name="Text 19"/>
          <p:cNvSpPr/>
          <p:nvPr/>
        </p:nvSpPr>
        <p:spPr>
          <a:xfrm>
            <a:off x="5468112" y="177393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Users &amp; Listings</a:t>
            </a:r>
            <a:endParaRPr lang="en-US" sz="750" dirty="0"/>
          </a:p>
        </p:txBody>
      </p:sp>
      <p:sp>
        <p:nvSpPr>
          <p:cNvPr id="22" name="Shape 20"/>
          <p:cNvSpPr/>
          <p:nvPr/>
        </p:nvSpPr>
        <p:spPr>
          <a:xfrm>
            <a:off x="7068312" y="1719072"/>
            <a:ext cx="155448" cy="54864"/>
          </a:xfrm>
          <a:prstGeom prst="rect">
            <a:avLst/>
          </a:prstGeom>
          <a:solidFill>
            <a:srgbClr val="4A6080"/>
          </a:solidFill>
          <a:ln w="12700">
            <a:solidFill>
              <a:srgbClr val="4A6080"/>
            </a:solidFill>
            <a:prstDash val="solid"/>
          </a:ln>
        </p:spPr>
      </p:sp>
      <p:sp>
        <p:nvSpPr>
          <p:cNvPr id="23" name="Shape 21"/>
          <p:cNvSpPr/>
          <p:nvPr/>
        </p:nvSpPr>
        <p:spPr>
          <a:xfrm>
            <a:off x="7223760" y="1444752"/>
            <a:ext cx="1600200" cy="621792"/>
          </a:xfrm>
          <a:prstGeom prst="rect">
            <a:avLst/>
          </a:prstGeom>
          <a:solidFill>
            <a:srgbClr val="E53935"/>
          </a:solidFill>
          <a:ln w="12700">
            <a:solidFill>
              <a:srgbClr val="E53935"/>
            </a:solidFill>
            <a:prstDash val="solid"/>
          </a:ln>
        </p:spPr>
      </p:sp>
      <p:sp>
        <p:nvSpPr>
          <p:cNvPr id="24" name="Text 22"/>
          <p:cNvSpPr/>
          <p:nvPr/>
        </p:nvSpPr>
        <p:spPr>
          <a:xfrm>
            <a:off x="7223760" y="148132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Feature / Delete</a:t>
            </a:r>
            <a:endParaRPr lang="en-US" sz="850" dirty="0"/>
          </a:p>
        </p:txBody>
      </p:sp>
      <p:sp>
        <p:nvSpPr>
          <p:cNvPr id="25" name="Text 23"/>
          <p:cNvSpPr/>
          <p:nvPr/>
        </p:nvSpPr>
        <p:spPr>
          <a:xfrm>
            <a:off x="7223760" y="177393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Manage All Ads</a:t>
            </a:r>
            <a:endParaRPr lang="en-US" sz="750" dirty="0"/>
          </a:p>
        </p:txBody>
      </p:sp>
      <p:sp>
        <p:nvSpPr>
          <p:cNvPr id="26" name="Shape 24"/>
          <p:cNvSpPr/>
          <p:nvPr/>
        </p:nvSpPr>
        <p:spPr>
          <a:xfrm>
            <a:off x="201168" y="2267712"/>
            <a:ext cx="1600200" cy="621792"/>
          </a:xfrm>
          <a:prstGeom prst="rect">
            <a:avLst/>
          </a:prstGeom>
          <a:solidFill>
            <a:srgbClr val="00C9A7"/>
          </a:solidFill>
          <a:ln w="12700">
            <a:solidFill>
              <a:srgbClr val="00C9A7"/>
            </a:solidFill>
            <a:prstDash val="solid"/>
          </a:ln>
        </p:spPr>
      </p:sp>
      <p:sp>
        <p:nvSpPr>
          <p:cNvPr id="27" name="Text 25"/>
          <p:cNvSpPr/>
          <p:nvPr/>
        </p:nvSpPr>
        <p:spPr>
          <a:xfrm>
            <a:off x="201168" y="230428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Home Page</a:t>
            </a:r>
            <a:endParaRPr lang="en-US" sz="850" dirty="0"/>
          </a:p>
        </p:txBody>
      </p:sp>
      <p:sp>
        <p:nvSpPr>
          <p:cNvPr id="28" name="Text 26"/>
          <p:cNvSpPr/>
          <p:nvPr/>
        </p:nvSpPr>
        <p:spPr>
          <a:xfrm>
            <a:off x="201168" y="259689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Browse Listings</a:t>
            </a:r>
            <a:endParaRPr lang="en-US" sz="750" dirty="0"/>
          </a:p>
        </p:txBody>
      </p:sp>
      <p:sp>
        <p:nvSpPr>
          <p:cNvPr id="29" name="Shape 27"/>
          <p:cNvSpPr/>
          <p:nvPr/>
        </p:nvSpPr>
        <p:spPr>
          <a:xfrm>
            <a:off x="1801368" y="2542032"/>
            <a:ext cx="155448" cy="54864"/>
          </a:xfrm>
          <a:prstGeom prst="rect">
            <a:avLst/>
          </a:prstGeom>
          <a:solidFill>
            <a:srgbClr val="4A6080"/>
          </a:solidFill>
          <a:ln w="12700">
            <a:solidFill>
              <a:srgbClr val="4A6080"/>
            </a:solidFill>
            <a:prstDash val="solid"/>
          </a:ln>
        </p:spPr>
      </p:sp>
      <p:sp>
        <p:nvSpPr>
          <p:cNvPr id="30" name="Shape 28"/>
          <p:cNvSpPr/>
          <p:nvPr/>
        </p:nvSpPr>
        <p:spPr>
          <a:xfrm>
            <a:off x="1956816" y="2267712"/>
            <a:ext cx="1600200" cy="621792"/>
          </a:xfrm>
          <a:prstGeom prst="rect">
            <a:avLst/>
          </a:prstGeom>
          <a:solidFill>
            <a:srgbClr val="00C9A7"/>
          </a:solidFill>
          <a:ln w="12700">
            <a:solidFill>
              <a:srgbClr val="00C9A7"/>
            </a:solidFill>
            <a:prstDash val="solid"/>
          </a:ln>
        </p:spPr>
      </p:sp>
      <p:sp>
        <p:nvSpPr>
          <p:cNvPr id="31" name="Text 29"/>
          <p:cNvSpPr/>
          <p:nvPr/>
        </p:nvSpPr>
        <p:spPr>
          <a:xfrm>
            <a:off x="1956816" y="230428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Search / Filter</a:t>
            </a:r>
            <a:endParaRPr lang="en-US" sz="850" dirty="0"/>
          </a:p>
        </p:txBody>
      </p:sp>
      <p:sp>
        <p:nvSpPr>
          <p:cNvPr id="32" name="Text 30"/>
          <p:cNvSpPr/>
          <p:nvPr/>
        </p:nvSpPr>
        <p:spPr>
          <a:xfrm>
            <a:off x="1956816" y="259689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Category or Budget</a:t>
            </a:r>
            <a:endParaRPr lang="en-US" sz="750" dirty="0"/>
          </a:p>
        </p:txBody>
      </p:sp>
      <p:sp>
        <p:nvSpPr>
          <p:cNvPr id="33" name="Shape 31"/>
          <p:cNvSpPr/>
          <p:nvPr/>
        </p:nvSpPr>
        <p:spPr>
          <a:xfrm>
            <a:off x="3557016" y="2542032"/>
            <a:ext cx="155448" cy="54864"/>
          </a:xfrm>
          <a:prstGeom prst="rect">
            <a:avLst/>
          </a:prstGeom>
          <a:solidFill>
            <a:srgbClr val="4A6080"/>
          </a:solidFill>
          <a:ln w="12700">
            <a:solidFill>
              <a:srgbClr val="4A6080"/>
            </a:solidFill>
            <a:prstDash val="solid"/>
          </a:ln>
        </p:spPr>
      </p:sp>
      <p:sp>
        <p:nvSpPr>
          <p:cNvPr id="34" name="Shape 32"/>
          <p:cNvSpPr/>
          <p:nvPr/>
        </p:nvSpPr>
        <p:spPr>
          <a:xfrm>
            <a:off x="3712464" y="2267712"/>
            <a:ext cx="1600200" cy="621792"/>
          </a:xfrm>
          <a:prstGeom prst="rect">
            <a:avLst/>
          </a:prstGeom>
          <a:solidFill>
            <a:srgbClr val="FF6B35"/>
          </a:solidFill>
          <a:ln w="12700">
            <a:solidFill>
              <a:srgbClr val="FF6B35"/>
            </a:solidFill>
            <a:prstDash val="solid"/>
          </a:ln>
        </p:spPr>
      </p:sp>
      <p:sp>
        <p:nvSpPr>
          <p:cNvPr id="35" name="Text 33"/>
          <p:cNvSpPr/>
          <p:nvPr/>
        </p:nvSpPr>
        <p:spPr>
          <a:xfrm>
            <a:off x="3712464" y="230428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View Pet Ad</a:t>
            </a:r>
            <a:endParaRPr lang="en-US" sz="850" dirty="0"/>
          </a:p>
        </p:txBody>
      </p:sp>
      <p:sp>
        <p:nvSpPr>
          <p:cNvPr id="36" name="Text 34"/>
          <p:cNvSpPr/>
          <p:nvPr/>
        </p:nvSpPr>
        <p:spPr>
          <a:xfrm>
            <a:off x="3712464" y="259689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Gallery + Info</a:t>
            </a:r>
            <a:endParaRPr lang="en-US" sz="750" dirty="0"/>
          </a:p>
        </p:txBody>
      </p:sp>
      <p:sp>
        <p:nvSpPr>
          <p:cNvPr id="37" name="Shape 35"/>
          <p:cNvSpPr/>
          <p:nvPr/>
        </p:nvSpPr>
        <p:spPr>
          <a:xfrm>
            <a:off x="5312664" y="2542032"/>
            <a:ext cx="155448" cy="54864"/>
          </a:xfrm>
          <a:prstGeom prst="rect">
            <a:avLst/>
          </a:prstGeom>
          <a:solidFill>
            <a:srgbClr val="4A6080"/>
          </a:solidFill>
          <a:ln w="12700">
            <a:solidFill>
              <a:srgbClr val="4A6080"/>
            </a:solidFill>
            <a:prstDash val="solid"/>
          </a:ln>
        </p:spPr>
      </p:sp>
      <p:sp>
        <p:nvSpPr>
          <p:cNvPr id="38" name="Shape 36"/>
          <p:cNvSpPr/>
          <p:nvPr/>
        </p:nvSpPr>
        <p:spPr>
          <a:xfrm>
            <a:off x="5468112" y="2267712"/>
            <a:ext cx="1600200" cy="621792"/>
          </a:xfrm>
          <a:prstGeom prst="rect">
            <a:avLst/>
          </a:prstGeom>
          <a:solidFill>
            <a:srgbClr val="E53935"/>
          </a:solidFill>
          <a:ln w="12700">
            <a:solidFill>
              <a:srgbClr val="E53935"/>
            </a:solidFill>
            <a:prstDash val="solid"/>
          </a:ln>
        </p:spPr>
      </p:sp>
      <p:sp>
        <p:nvSpPr>
          <p:cNvPr id="39" name="Text 37"/>
          <p:cNvSpPr/>
          <p:nvPr/>
        </p:nvSpPr>
        <p:spPr>
          <a:xfrm>
            <a:off x="5468112" y="230428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Wishlist</a:t>
            </a:r>
            <a:endParaRPr lang="en-US" sz="850" dirty="0"/>
          </a:p>
        </p:txBody>
      </p:sp>
      <p:sp>
        <p:nvSpPr>
          <p:cNvPr id="40" name="Text 38"/>
          <p:cNvSpPr/>
          <p:nvPr/>
        </p:nvSpPr>
        <p:spPr>
          <a:xfrm>
            <a:off x="5468112" y="259689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Save for Later</a:t>
            </a:r>
            <a:endParaRPr lang="en-US" sz="750" dirty="0"/>
          </a:p>
        </p:txBody>
      </p:sp>
      <p:sp>
        <p:nvSpPr>
          <p:cNvPr id="41" name="Shape 39"/>
          <p:cNvSpPr/>
          <p:nvPr/>
        </p:nvSpPr>
        <p:spPr>
          <a:xfrm>
            <a:off x="7068312" y="2542032"/>
            <a:ext cx="155448" cy="54864"/>
          </a:xfrm>
          <a:prstGeom prst="rect">
            <a:avLst/>
          </a:prstGeom>
          <a:solidFill>
            <a:srgbClr val="4A6080"/>
          </a:solidFill>
          <a:ln w="12700">
            <a:solidFill>
              <a:srgbClr val="4A6080"/>
            </a:solidFill>
            <a:prstDash val="solid"/>
          </a:ln>
        </p:spPr>
      </p:sp>
      <p:sp>
        <p:nvSpPr>
          <p:cNvPr id="42" name="Shape 40"/>
          <p:cNvSpPr/>
          <p:nvPr/>
        </p:nvSpPr>
        <p:spPr>
          <a:xfrm>
            <a:off x="7223760" y="2267712"/>
            <a:ext cx="1600200" cy="621792"/>
          </a:xfrm>
          <a:prstGeom prst="rect">
            <a:avLst/>
          </a:prstGeom>
          <a:solidFill>
            <a:srgbClr val="0097A7"/>
          </a:solidFill>
          <a:ln w="12700">
            <a:solidFill>
              <a:srgbClr val="0097A7"/>
            </a:solidFill>
            <a:prstDash val="solid"/>
          </a:ln>
        </p:spPr>
      </p:sp>
      <p:sp>
        <p:nvSpPr>
          <p:cNvPr id="43" name="Text 41"/>
          <p:cNvSpPr/>
          <p:nvPr/>
        </p:nvSpPr>
        <p:spPr>
          <a:xfrm>
            <a:off x="7223760" y="230428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Message Seller</a:t>
            </a:r>
            <a:endParaRPr lang="en-US" sz="850" dirty="0"/>
          </a:p>
        </p:txBody>
      </p:sp>
      <p:sp>
        <p:nvSpPr>
          <p:cNvPr id="44" name="Text 42"/>
          <p:cNvSpPr/>
          <p:nvPr/>
        </p:nvSpPr>
        <p:spPr>
          <a:xfrm>
            <a:off x="7223760" y="259689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Chat System</a:t>
            </a:r>
            <a:endParaRPr lang="en-US" sz="750" dirty="0"/>
          </a:p>
        </p:txBody>
      </p:sp>
      <p:sp>
        <p:nvSpPr>
          <p:cNvPr id="45" name="Shape 43"/>
          <p:cNvSpPr/>
          <p:nvPr/>
        </p:nvSpPr>
        <p:spPr>
          <a:xfrm>
            <a:off x="201168" y="3090672"/>
            <a:ext cx="1600200" cy="621792"/>
          </a:xfrm>
          <a:prstGeom prst="rect">
            <a:avLst/>
          </a:prstGeom>
          <a:solidFill>
            <a:srgbClr val="FF6B35"/>
          </a:solidFill>
          <a:ln w="12700">
            <a:solidFill>
              <a:srgbClr val="FF6B35"/>
            </a:solidFill>
            <a:prstDash val="solid"/>
          </a:ln>
        </p:spPr>
      </p:sp>
      <p:sp>
        <p:nvSpPr>
          <p:cNvPr id="46" name="Text 44"/>
          <p:cNvSpPr/>
          <p:nvPr/>
        </p:nvSpPr>
        <p:spPr>
          <a:xfrm>
            <a:off x="201168" y="312724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Post Ad</a:t>
            </a:r>
            <a:endParaRPr lang="en-US" sz="850" dirty="0"/>
          </a:p>
        </p:txBody>
      </p:sp>
      <p:sp>
        <p:nvSpPr>
          <p:cNvPr id="47" name="Text 45"/>
          <p:cNvSpPr/>
          <p:nvPr/>
        </p:nvSpPr>
        <p:spPr>
          <a:xfrm>
            <a:off x="201168" y="341985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Title, Price, Photos</a:t>
            </a:r>
            <a:endParaRPr lang="en-US" sz="750" dirty="0"/>
          </a:p>
        </p:txBody>
      </p:sp>
      <p:sp>
        <p:nvSpPr>
          <p:cNvPr id="48" name="Shape 46"/>
          <p:cNvSpPr/>
          <p:nvPr/>
        </p:nvSpPr>
        <p:spPr>
          <a:xfrm>
            <a:off x="1801368" y="3364992"/>
            <a:ext cx="155448" cy="54864"/>
          </a:xfrm>
          <a:prstGeom prst="rect">
            <a:avLst/>
          </a:prstGeom>
          <a:solidFill>
            <a:srgbClr val="4A6080"/>
          </a:solidFill>
          <a:ln w="12700">
            <a:solidFill>
              <a:srgbClr val="4A6080"/>
            </a:solidFill>
            <a:prstDash val="solid"/>
          </a:ln>
        </p:spPr>
      </p:sp>
      <p:sp>
        <p:nvSpPr>
          <p:cNvPr id="49" name="Shape 47"/>
          <p:cNvSpPr/>
          <p:nvPr/>
        </p:nvSpPr>
        <p:spPr>
          <a:xfrm>
            <a:off x="1956816" y="3090672"/>
            <a:ext cx="1600200" cy="621792"/>
          </a:xfrm>
          <a:prstGeom prst="rect">
            <a:avLst/>
          </a:prstGeom>
          <a:solidFill>
            <a:srgbClr val="0097A7"/>
          </a:solidFill>
          <a:ln w="12700">
            <a:solidFill>
              <a:srgbClr val="0097A7"/>
            </a:solidFill>
            <a:prstDash val="solid"/>
          </a:ln>
        </p:spPr>
      </p:sp>
      <p:sp>
        <p:nvSpPr>
          <p:cNvPr id="50" name="Text 48"/>
          <p:cNvSpPr/>
          <p:nvPr/>
        </p:nvSpPr>
        <p:spPr>
          <a:xfrm>
            <a:off x="1956816" y="312724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Upload Images</a:t>
            </a:r>
            <a:endParaRPr lang="en-US" sz="850" dirty="0"/>
          </a:p>
        </p:txBody>
      </p:sp>
      <p:sp>
        <p:nvSpPr>
          <p:cNvPr id="51" name="Text 49"/>
          <p:cNvSpPr/>
          <p:nvPr/>
        </p:nvSpPr>
        <p:spPr>
          <a:xfrm>
            <a:off x="1956816" y="341985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Up to 6 Photos</a:t>
            </a:r>
            <a:endParaRPr lang="en-US" sz="750" dirty="0"/>
          </a:p>
        </p:txBody>
      </p:sp>
      <p:sp>
        <p:nvSpPr>
          <p:cNvPr id="52" name="Shape 50"/>
          <p:cNvSpPr/>
          <p:nvPr/>
        </p:nvSpPr>
        <p:spPr>
          <a:xfrm>
            <a:off x="3557016" y="3364992"/>
            <a:ext cx="155448" cy="54864"/>
          </a:xfrm>
          <a:prstGeom prst="rect">
            <a:avLst/>
          </a:prstGeom>
          <a:solidFill>
            <a:srgbClr val="4A6080"/>
          </a:solidFill>
          <a:ln w="12700">
            <a:solidFill>
              <a:srgbClr val="4A6080"/>
            </a:solidFill>
            <a:prstDash val="solid"/>
          </a:ln>
        </p:spPr>
      </p:sp>
      <p:sp>
        <p:nvSpPr>
          <p:cNvPr id="53" name="Shape 51"/>
          <p:cNvSpPr/>
          <p:nvPr/>
        </p:nvSpPr>
        <p:spPr>
          <a:xfrm>
            <a:off x="3712464" y="3090672"/>
            <a:ext cx="1600200" cy="621792"/>
          </a:xfrm>
          <a:prstGeom prst="rect">
            <a:avLst/>
          </a:prstGeom>
          <a:solidFill>
            <a:srgbClr val="00C9A7"/>
          </a:solidFill>
          <a:ln w="12700">
            <a:solidFill>
              <a:srgbClr val="00C9A7"/>
            </a:solidFill>
            <a:prstDash val="solid"/>
          </a:ln>
        </p:spPr>
      </p:sp>
      <p:sp>
        <p:nvSpPr>
          <p:cNvPr id="54" name="Text 52"/>
          <p:cNvSpPr/>
          <p:nvPr/>
        </p:nvSpPr>
        <p:spPr>
          <a:xfrm>
            <a:off x="3712464" y="312724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Ad Goes Live</a:t>
            </a:r>
            <a:endParaRPr lang="en-US" sz="850" dirty="0"/>
          </a:p>
        </p:txBody>
      </p:sp>
      <p:sp>
        <p:nvSpPr>
          <p:cNvPr id="55" name="Text 53"/>
          <p:cNvSpPr/>
          <p:nvPr/>
        </p:nvSpPr>
        <p:spPr>
          <a:xfrm>
            <a:off x="3712464" y="341985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MongoDB Stored</a:t>
            </a:r>
            <a:endParaRPr lang="en-US" sz="750" dirty="0"/>
          </a:p>
        </p:txBody>
      </p:sp>
      <p:sp>
        <p:nvSpPr>
          <p:cNvPr id="56" name="Shape 54"/>
          <p:cNvSpPr/>
          <p:nvPr/>
        </p:nvSpPr>
        <p:spPr>
          <a:xfrm>
            <a:off x="5312664" y="3364992"/>
            <a:ext cx="155448" cy="54864"/>
          </a:xfrm>
          <a:prstGeom prst="rect">
            <a:avLst/>
          </a:prstGeom>
          <a:solidFill>
            <a:srgbClr val="4A6080"/>
          </a:solidFill>
          <a:ln w="12700">
            <a:solidFill>
              <a:srgbClr val="4A6080"/>
            </a:solidFill>
            <a:prstDash val="solid"/>
          </a:ln>
        </p:spPr>
      </p:sp>
      <p:sp>
        <p:nvSpPr>
          <p:cNvPr id="57" name="Shape 55"/>
          <p:cNvSpPr/>
          <p:nvPr/>
        </p:nvSpPr>
        <p:spPr>
          <a:xfrm>
            <a:off x="5468112" y="3090672"/>
            <a:ext cx="1600200" cy="621792"/>
          </a:xfrm>
          <a:prstGeom prst="rect">
            <a:avLst/>
          </a:prstGeom>
          <a:solidFill>
            <a:srgbClr val="FF6B35"/>
          </a:solidFill>
          <a:ln w="12700">
            <a:solidFill>
              <a:srgbClr val="FF6B35"/>
            </a:solidFill>
            <a:prstDash val="solid"/>
          </a:ln>
        </p:spPr>
      </p:sp>
      <p:sp>
        <p:nvSpPr>
          <p:cNvPr id="58" name="Text 56"/>
          <p:cNvSpPr/>
          <p:nvPr/>
        </p:nvSpPr>
        <p:spPr>
          <a:xfrm>
            <a:off x="5468112" y="312724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Mark as Sold</a:t>
            </a:r>
            <a:endParaRPr lang="en-US" sz="850" dirty="0"/>
          </a:p>
        </p:txBody>
      </p:sp>
      <p:sp>
        <p:nvSpPr>
          <p:cNvPr id="59" name="Text 57"/>
          <p:cNvSpPr/>
          <p:nvPr/>
        </p:nvSpPr>
        <p:spPr>
          <a:xfrm>
            <a:off x="5468112" y="341985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Status Update</a:t>
            </a:r>
            <a:endParaRPr lang="en-US" sz="750" dirty="0"/>
          </a:p>
        </p:txBody>
      </p:sp>
      <p:sp>
        <p:nvSpPr>
          <p:cNvPr id="60" name="Shape 58"/>
          <p:cNvSpPr/>
          <p:nvPr/>
        </p:nvSpPr>
        <p:spPr>
          <a:xfrm>
            <a:off x="7068312" y="3364992"/>
            <a:ext cx="155448" cy="54864"/>
          </a:xfrm>
          <a:prstGeom prst="rect">
            <a:avLst/>
          </a:prstGeom>
          <a:solidFill>
            <a:srgbClr val="4A6080"/>
          </a:solidFill>
          <a:ln w="12700">
            <a:solidFill>
              <a:srgbClr val="4A6080"/>
            </a:solidFill>
            <a:prstDash val="solid"/>
          </a:ln>
        </p:spPr>
      </p:sp>
      <p:sp>
        <p:nvSpPr>
          <p:cNvPr id="61" name="Shape 59"/>
          <p:cNvSpPr/>
          <p:nvPr/>
        </p:nvSpPr>
        <p:spPr>
          <a:xfrm>
            <a:off x="7223760" y="3090672"/>
            <a:ext cx="1600200" cy="621792"/>
          </a:xfrm>
          <a:prstGeom prst="rect">
            <a:avLst/>
          </a:prstGeom>
          <a:solidFill>
            <a:srgbClr val="64748B"/>
          </a:solidFill>
          <a:ln w="12700">
            <a:solidFill>
              <a:srgbClr val="64748B"/>
            </a:solidFill>
            <a:prstDash val="solid"/>
          </a:ln>
        </p:spPr>
      </p:sp>
      <p:sp>
        <p:nvSpPr>
          <p:cNvPr id="62" name="Text 60"/>
          <p:cNvSpPr/>
          <p:nvPr/>
        </p:nvSpPr>
        <p:spPr>
          <a:xfrm>
            <a:off x="7223760" y="312724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My Ads Panel</a:t>
            </a:r>
            <a:endParaRPr lang="en-US" sz="850" dirty="0"/>
          </a:p>
        </p:txBody>
      </p:sp>
      <p:sp>
        <p:nvSpPr>
          <p:cNvPr id="63" name="Text 61"/>
          <p:cNvSpPr/>
          <p:nvPr/>
        </p:nvSpPr>
        <p:spPr>
          <a:xfrm>
            <a:off x="7223760" y="341985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Edit / Delete</a:t>
            </a:r>
            <a:endParaRPr lang="en-US" sz="750" dirty="0"/>
          </a:p>
        </p:txBody>
      </p:sp>
      <p:sp>
        <p:nvSpPr>
          <p:cNvPr id="64" name="Shape 62"/>
          <p:cNvSpPr/>
          <p:nvPr/>
        </p:nvSpPr>
        <p:spPr>
          <a:xfrm>
            <a:off x="201168" y="3913632"/>
            <a:ext cx="1600200" cy="621792"/>
          </a:xfrm>
          <a:prstGeom prst="rect">
            <a:avLst/>
          </a:prstGeom>
          <a:solidFill>
            <a:srgbClr val="2196F3"/>
          </a:solidFill>
          <a:ln w="12700">
            <a:solidFill>
              <a:srgbClr val="2196F3"/>
            </a:solidFill>
            <a:prstDash val="solid"/>
          </a:ln>
        </p:spPr>
      </p:sp>
      <p:sp>
        <p:nvSpPr>
          <p:cNvPr id="65" name="Text 63"/>
          <p:cNvSpPr/>
          <p:nvPr/>
        </p:nvSpPr>
        <p:spPr>
          <a:xfrm>
            <a:off x="201168" y="395020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Chat Inbox</a:t>
            </a:r>
            <a:endParaRPr lang="en-US" sz="850" dirty="0"/>
          </a:p>
        </p:txBody>
      </p:sp>
      <p:sp>
        <p:nvSpPr>
          <p:cNvPr id="66" name="Text 64"/>
          <p:cNvSpPr/>
          <p:nvPr/>
        </p:nvSpPr>
        <p:spPr>
          <a:xfrm>
            <a:off x="201168" y="424281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All Conversations</a:t>
            </a:r>
            <a:endParaRPr lang="en-US" sz="750" dirty="0"/>
          </a:p>
        </p:txBody>
      </p:sp>
      <p:sp>
        <p:nvSpPr>
          <p:cNvPr id="67" name="Shape 65"/>
          <p:cNvSpPr/>
          <p:nvPr/>
        </p:nvSpPr>
        <p:spPr>
          <a:xfrm>
            <a:off x="1801368" y="4187952"/>
            <a:ext cx="155448" cy="54864"/>
          </a:xfrm>
          <a:prstGeom prst="rect">
            <a:avLst/>
          </a:prstGeom>
          <a:solidFill>
            <a:srgbClr val="4A6080"/>
          </a:solidFill>
          <a:ln w="12700">
            <a:solidFill>
              <a:srgbClr val="4A6080"/>
            </a:solidFill>
            <a:prstDash val="solid"/>
          </a:ln>
        </p:spPr>
      </p:sp>
      <p:sp>
        <p:nvSpPr>
          <p:cNvPr id="68" name="Shape 66"/>
          <p:cNvSpPr/>
          <p:nvPr/>
        </p:nvSpPr>
        <p:spPr>
          <a:xfrm>
            <a:off x="1956816" y="3913632"/>
            <a:ext cx="1600200" cy="621792"/>
          </a:xfrm>
          <a:prstGeom prst="rect">
            <a:avLst/>
          </a:prstGeom>
          <a:solidFill>
            <a:srgbClr val="00C9A7"/>
          </a:solidFill>
          <a:ln w="12700">
            <a:solidFill>
              <a:srgbClr val="00C9A7"/>
            </a:solidFill>
            <a:prstDash val="solid"/>
          </a:ln>
        </p:spPr>
      </p:sp>
      <p:sp>
        <p:nvSpPr>
          <p:cNvPr id="69" name="Text 67"/>
          <p:cNvSpPr/>
          <p:nvPr/>
        </p:nvSpPr>
        <p:spPr>
          <a:xfrm>
            <a:off x="1956816" y="395020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Budget Filter</a:t>
            </a:r>
            <a:endParaRPr lang="en-US" sz="850" dirty="0"/>
          </a:p>
        </p:txBody>
      </p:sp>
      <p:sp>
        <p:nvSpPr>
          <p:cNvPr id="70" name="Text 68"/>
          <p:cNvSpPr/>
          <p:nvPr/>
        </p:nvSpPr>
        <p:spPr>
          <a:xfrm>
            <a:off x="1956816" y="424281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Price Ranges</a:t>
            </a:r>
            <a:endParaRPr lang="en-US" sz="750" dirty="0"/>
          </a:p>
        </p:txBody>
      </p:sp>
      <p:sp>
        <p:nvSpPr>
          <p:cNvPr id="71" name="Shape 69"/>
          <p:cNvSpPr/>
          <p:nvPr/>
        </p:nvSpPr>
        <p:spPr>
          <a:xfrm>
            <a:off x="3557016" y="4187952"/>
            <a:ext cx="155448" cy="54864"/>
          </a:xfrm>
          <a:prstGeom prst="rect">
            <a:avLst/>
          </a:prstGeom>
          <a:solidFill>
            <a:srgbClr val="4A6080"/>
          </a:solidFill>
          <a:ln w="12700">
            <a:solidFill>
              <a:srgbClr val="4A6080"/>
            </a:solidFill>
            <a:prstDash val="solid"/>
          </a:ln>
        </p:spPr>
      </p:sp>
      <p:sp>
        <p:nvSpPr>
          <p:cNvPr id="72" name="Shape 70"/>
          <p:cNvSpPr/>
          <p:nvPr/>
        </p:nvSpPr>
        <p:spPr>
          <a:xfrm>
            <a:off x="3712464" y="3913632"/>
            <a:ext cx="1600200" cy="621792"/>
          </a:xfrm>
          <a:prstGeom prst="rect">
            <a:avLst/>
          </a:prstGeom>
          <a:solidFill>
            <a:srgbClr val="0097A7"/>
          </a:solidFill>
          <a:ln w="12700">
            <a:solidFill>
              <a:srgbClr val="0097A7"/>
            </a:solidFill>
            <a:prstDash val="solid"/>
          </a:ln>
        </p:spPr>
      </p:sp>
      <p:sp>
        <p:nvSpPr>
          <p:cNvPr id="73" name="Text 71"/>
          <p:cNvSpPr/>
          <p:nvPr/>
        </p:nvSpPr>
        <p:spPr>
          <a:xfrm>
            <a:off x="3712464" y="395020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Account Page</a:t>
            </a:r>
            <a:endParaRPr lang="en-US" sz="850" dirty="0"/>
          </a:p>
        </p:txBody>
      </p:sp>
      <p:sp>
        <p:nvSpPr>
          <p:cNvPr id="74" name="Text 72"/>
          <p:cNvSpPr/>
          <p:nvPr/>
        </p:nvSpPr>
        <p:spPr>
          <a:xfrm>
            <a:off x="3712464" y="424281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Edit Profile + Pwd</a:t>
            </a:r>
            <a:endParaRPr lang="en-US" sz="750" dirty="0"/>
          </a:p>
        </p:txBody>
      </p:sp>
      <p:sp>
        <p:nvSpPr>
          <p:cNvPr id="75" name="Shape 73"/>
          <p:cNvSpPr/>
          <p:nvPr/>
        </p:nvSpPr>
        <p:spPr>
          <a:xfrm>
            <a:off x="5312664" y="4187952"/>
            <a:ext cx="155448" cy="54864"/>
          </a:xfrm>
          <a:prstGeom prst="rect">
            <a:avLst/>
          </a:prstGeom>
          <a:solidFill>
            <a:srgbClr val="4A6080"/>
          </a:solidFill>
          <a:ln w="12700">
            <a:solidFill>
              <a:srgbClr val="4A6080"/>
            </a:solidFill>
            <a:prstDash val="solid"/>
          </a:ln>
        </p:spPr>
      </p:sp>
      <p:sp>
        <p:nvSpPr>
          <p:cNvPr id="76" name="Shape 74"/>
          <p:cNvSpPr/>
          <p:nvPr/>
        </p:nvSpPr>
        <p:spPr>
          <a:xfrm>
            <a:off x="5468112" y="3913632"/>
            <a:ext cx="1600200" cy="621792"/>
          </a:xfrm>
          <a:prstGeom prst="rect">
            <a:avLst/>
          </a:prstGeom>
          <a:solidFill>
            <a:srgbClr val="7C4DFF"/>
          </a:solidFill>
          <a:ln w="12700">
            <a:solidFill>
              <a:srgbClr val="7C4DFF"/>
            </a:solidFill>
            <a:prstDash val="solid"/>
          </a:ln>
        </p:spPr>
      </p:sp>
      <p:sp>
        <p:nvSpPr>
          <p:cNvPr id="77" name="Text 75"/>
          <p:cNvSpPr/>
          <p:nvPr/>
        </p:nvSpPr>
        <p:spPr>
          <a:xfrm>
            <a:off x="5468112" y="395020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Admin Dashboard</a:t>
            </a:r>
            <a:endParaRPr lang="en-US" sz="850" dirty="0"/>
          </a:p>
        </p:txBody>
      </p:sp>
      <p:sp>
        <p:nvSpPr>
          <p:cNvPr id="78" name="Text 76"/>
          <p:cNvSpPr/>
          <p:nvPr/>
        </p:nvSpPr>
        <p:spPr>
          <a:xfrm>
            <a:off x="5468112" y="424281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Charts + Stats</a:t>
            </a:r>
            <a:endParaRPr lang="en-US" sz="750" dirty="0"/>
          </a:p>
        </p:txBody>
      </p:sp>
      <p:sp>
        <p:nvSpPr>
          <p:cNvPr id="79" name="Shape 77"/>
          <p:cNvSpPr/>
          <p:nvPr/>
        </p:nvSpPr>
        <p:spPr>
          <a:xfrm>
            <a:off x="7068312" y="4187952"/>
            <a:ext cx="155448" cy="54864"/>
          </a:xfrm>
          <a:prstGeom prst="rect">
            <a:avLst/>
          </a:prstGeom>
          <a:solidFill>
            <a:srgbClr val="4A6080"/>
          </a:solidFill>
          <a:ln w="12700">
            <a:solidFill>
              <a:srgbClr val="4A6080"/>
            </a:solidFill>
            <a:prstDash val="solid"/>
          </a:ln>
        </p:spPr>
      </p:sp>
      <p:sp>
        <p:nvSpPr>
          <p:cNvPr id="80" name="Shape 78"/>
          <p:cNvSpPr/>
          <p:nvPr/>
        </p:nvSpPr>
        <p:spPr>
          <a:xfrm>
            <a:off x="7223760" y="3913632"/>
            <a:ext cx="1600200" cy="621792"/>
          </a:xfrm>
          <a:prstGeom prst="rect">
            <a:avLst/>
          </a:prstGeom>
          <a:solidFill>
            <a:srgbClr val="64748B"/>
          </a:solidFill>
          <a:ln w="12700">
            <a:solidFill>
              <a:srgbClr val="64748B"/>
            </a:solidFill>
            <a:prstDash val="solid"/>
          </a:ln>
        </p:spPr>
      </p:sp>
      <p:sp>
        <p:nvSpPr>
          <p:cNvPr id="81" name="Text 79"/>
          <p:cNvSpPr/>
          <p:nvPr/>
        </p:nvSpPr>
        <p:spPr>
          <a:xfrm>
            <a:off x="7223760" y="3950208"/>
            <a:ext cx="1600200" cy="274320"/>
          </a:xfrm>
          <a:prstGeom prst="rect">
            <a:avLst/>
          </a:prstGeom>
          <a:noFill/>
          <a:ln/>
        </p:spPr>
        <p:txBody>
          <a:bodyPr wrap="square" lIns="0" tIns="0" rIns="0" bIns="0" rtlCol="0" anchor="ctr"/>
          <a:lstStyle/>
          <a:p>
            <a:pPr marL="0" indent="0" algn="ctr">
              <a:buNone/>
            </a:pPr>
            <a:r>
              <a:rPr lang="en-US" sz="850" b="1" dirty="0">
                <a:solidFill>
                  <a:srgbClr val="FFFFFF"/>
                </a:solidFill>
              </a:rPr>
              <a:t>Logout</a:t>
            </a:r>
            <a:endParaRPr lang="en-US" sz="850" dirty="0"/>
          </a:p>
        </p:txBody>
      </p:sp>
      <p:sp>
        <p:nvSpPr>
          <p:cNvPr id="82" name="Text 80"/>
          <p:cNvSpPr/>
          <p:nvPr/>
        </p:nvSpPr>
        <p:spPr>
          <a:xfrm>
            <a:off x="7223760" y="4242816"/>
            <a:ext cx="1600200" cy="256032"/>
          </a:xfrm>
          <a:prstGeom prst="rect">
            <a:avLst/>
          </a:prstGeom>
          <a:noFill/>
          <a:ln/>
        </p:spPr>
        <p:txBody>
          <a:bodyPr wrap="square" lIns="0" tIns="0" rIns="0" bIns="0" rtlCol="0" anchor="ctr"/>
          <a:lstStyle/>
          <a:p>
            <a:pPr marL="0" indent="0" algn="ctr">
              <a:buNone/>
            </a:pPr>
            <a:r>
              <a:rPr lang="en-US" sz="750" dirty="0">
                <a:solidFill>
                  <a:srgbClr val="D0E8FF"/>
                </a:solidFill>
              </a:rPr>
              <a:t>Session Destroyed</a:t>
            </a:r>
            <a:endParaRPr lang="en-US" sz="750" dirty="0"/>
          </a:p>
        </p:txBody>
      </p:sp>
      <p:sp>
        <p:nvSpPr>
          <p:cNvPr id="83" name="Shape 81"/>
          <p:cNvSpPr/>
          <p:nvPr/>
        </p:nvSpPr>
        <p:spPr>
          <a:xfrm>
            <a:off x="201168" y="4709160"/>
            <a:ext cx="201168" cy="201168"/>
          </a:xfrm>
          <a:prstGeom prst="rect">
            <a:avLst/>
          </a:prstGeom>
          <a:solidFill>
            <a:srgbClr val="0097A7"/>
          </a:solidFill>
          <a:ln w="12700">
            <a:solidFill>
              <a:srgbClr val="0097A7"/>
            </a:solidFill>
            <a:prstDash val="solid"/>
          </a:ln>
        </p:spPr>
      </p:sp>
      <p:sp>
        <p:nvSpPr>
          <p:cNvPr id="84" name="Text 82"/>
          <p:cNvSpPr/>
          <p:nvPr/>
        </p:nvSpPr>
        <p:spPr>
          <a:xfrm>
            <a:off x="457200" y="4709160"/>
            <a:ext cx="1417320" cy="201168"/>
          </a:xfrm>
          <a:prstGeom prst="rect">
            <a:avLst/>
          </a:prstGeom>
          <a:noFill/>
          <a:ln/>
        </p:spPr>
        <p:txBody>
          <a:bodyPr wrap="square" lIns="0" tIns="0" rIns="0" bIns="0" rtlCol="0" anchor="ctr"/>
          <a:lstStyle/>
          <a:p>
            <a:pPr marL="0" indent="0">
              <a:buNone/>
            </a:pPr>
            <a:r>
              <a:rPr lang="en-US" sz="800" dirty="0">
                <a:solidFill>
                  <a:srgbClr val="CBD5E1"/>
                </a:solidFill>
              </a:rPr>
              <a:t>Auth / Setup</a:t>
            </a:r>
            <a:endParaRPr lang="en-US" sz="800" dirty="0"/>
          </a:p>
        </p:txBody>
      </p:sp>
      <p:sp>
        <p:nvSpPr>
          <p:cNvPr id="85" name="Shape 83"/>
          <p:cNvSpPr/>
          <p:nvPr/>
        </p:nvSpPr>
        <p:spPr>
          <a:xfrm>
            <a:off x="1956816" y="4709160"/>
            <a:ext cx="201168" cy="201168"/>
          </a:xfrm>
          <a:prstGeom prst="rect">
            <a:avLst/>
          </a:prstGeom>
          <a:solidFill>
            <a:srgbClr val="00C9A7"/>
          </a:solidFill>
          <a:ln w="12700">
            <a:solidFill>
              <a:srgbClr val="00C9A7"/>
            </a:solidFill>
            <a:prstDash val="solid"/>
          </a:ln>
        </p:spPr>
      </p:sp>
      <p:sp>
        <p:nvSpPr>
          <p:cNvPr id="86" name="Text 84"/>
          <p:cNvSpPr/>
          <p:nvPr/>
        </p:nvSpPr>
        <p:spPr>
          <a:xfrm>
            <a:off x="2212848" y="4709160"/>
            <a:ext cx="1417320" cy="201168"/>
          </a:xfrm>
          <a:prstGeom prst="rect">
            <a:avLst/>
          </a:prstGeom>
          <a:noFill/>
          <a:ln/>
        </p:spPr>
        <p:txBody>
          <a:bodyPr wrap="square" lIns="0" tIns="0" rIns="0" bIns="0" rtlCol="0" anchor="ctr"/>
          <a:lstStyle/>
          <a:p>
            <a:pPr marL="0" indent="0">
              <a:buNone/>
            </a:pPr>
            <a:r>
              <a:rPr lang="en-US" sz="800" dirty="0">
                <a:solidFill>
                  <a:srgbClr val="CBD5E1"/>
                </a:solidFill>
              </a:rPr>
              <a:t>Browse / Post</a:t>
            </a:r>
            <a:endParaRPr lang="en-US" sz="800" dirty="0"/>
          </a:p>
        </p:txBody>
      </p:sp>
      <p:sp>
        <p:nvSpPr>
          <p:cNvPr id="87" name="Shape 85"/>
          <p:cNvSpPr/>
          <p:nvPr/>
        </p:nvSpPr>
        <p:spPr>
          <a:xfrm>
            <a:off x="3712464" y="4709160"/>
            <a:ext cx="201168" cy="201168"/>
          </a:xfrm>
          <a:prstGeom prst="rect">
            <a:avLst/>
          </a:prstGeom>
          <a:solidFill>
            <a:srgbClr val="FF6B35"/>
          </a:solidFill>
          <a:ln w="12700">
            <a:solidFill>
              <a:srgbClr val="FF6B35"/>
            </a:solidFill>
            <a:prstDash val="solid"/>
          </a:ln>
        </p:spPr>
      </p:sp>
      <p:sp>
        <p:nvSpPr>
          <p:cNvPr id="88" name="Text 86"/>
          <p:cNvSpPr/>
          <p:nvPr/>
        </p:nvSpPr>
        <p:spPr>
          <a:xfrm>
            <a:off x="3968496" y="4709160"/>
            <a:ext cx="1417320" cy="201168"/>
          </a:xfrm>
          <a:prstGeom prst="rect">
            <a:avLst/>
          </a:prstGeom>
          <a:noFill/>
          <a:ln/>
        </p:spPr>
        <p:txBody>
          <a:bodyPr wrap="square" lIns="0" tIns="0" rIns="0" bIns="0" rtlCol="0" anchor="ctr"/>
          <a:lstStyle/>
          <a:p>
            <a:pPr marL="0" indent="0">
              <a:buNone/>
            </a:pPr>
            <a:r>
              <a:rPr lang="en-US" sz="800" dirty="0">
                <a:solidFill>
                  <a:srgbClr val="CBD5E1"/>
                </a:solidFill>
              </a:rPr>
              <a:t>Key Actions</a:t>
            </a:r>
            <a:endParaRPr lang="en-US" sz="800" dirty="0"/>
          </a:p>
        </p:txBody>
      </p:sp>
      <p:sp>
        <p:nvSpPr>
          <p:cNvPr id="89" name="Shape 87"/>
          <p:cNvSpPr/>
          <p:nvPr/>
        </p:nvSpPr>
        <p:spPr>
          <a:xfrm>
            <a:off x="5468112" y="4709160"/>
            <a:ext cx="201168" cy="201168"/>
          </a:xfrm>
          <a:prstGeom prst="rect">
            <a:avLst/>
          </a:prstGeom>
          <a:solidFill>
            <a:srgbClr val="64748B"/>
          </a:solidFill>
          <a:ln w="12700">
            <a:solidFill>
              <a:srgbClr val="64748B"/>
            </a:solidFill>
            <a:prstDash val="solid"/>
          </a:ln>
        </p:spPr>
      </p:sp>
      <p:sp>
        <p:nvSpPr>
          <p:cNvPr id="90" name="Text 88"/>
          <p:cNvSpPr/>
          <p:nvPr/>
        </p:nvSpPr>
        <p:spPr>
          <a:xfrm>
            <a:off x="5724144" y="4709160"/>
            <a:ext cx="1417320" cy="201168"/>
          </a:xfrm>
          <a:prstGeom prst="rect">
            <a:avLst/>
          </a:prstGeom>
          <a:noFill/>
          <a:ln/>
        </p:spPr>
        <p:txBody>
          <a:bodyPr wrap="square" lIns="0" tIns="0" rIns="0" bIns="0" rtlCol="0" anchor="ctr"/>
          <a:lstStyle/>
          <a:p>
            <a:pPr marL="0" indent="0">
              <a:buNone/>
            </a:pPr>
            <a:r>
              <a:rPr lang="en-US" sz="800" dirty="0">
                <a:solidFill>
                  <a:srgbClr val="CBD5E1"/>
                </a:solidFill>
              </a:rPr>
              <a:t>Seller Control</a:t>
            </a:r>
            <a:endParaRPr lang="en-US" sz="800" dirty="0"/>
          </a:p>
        </p:txBody>
      </p:sp>
      <p:sp>
        <p:nvSpPr>
          <p:cNvPr id="91" name="Shape 89"/>
          <p:cNvSpPr/>
          <p:nvPr/>
        </p:nvSpPr>
        <p:spPr>
          <a:xfrm>
            <a:off x="7223760" y="4709160"/>
            <a:ext cx="201168" cy="201168"/>
          </a:xfrm>
          <a:prstGeom prst="rect">
            <a:avLst/>
          </a:prstGeom>
          <a:solidFill>
            <a:srgbClr val="7C4DFF"/>
          </a:solidFill>
          <a:ln w="12700">
            <a:solidFill>
              <a:srgbClr val="7C4DFF"/>
            </a:solidFill>
            <a:prstDash val="solid"/>
          </a:ln>
        </p:spPr>
      </p:sp>
      <p:sp>
        <p:nvSpPr>
          <p:cNvPr id="92" name="Text 90"/>
          <p:cNvSpPr/>
          <p:nvPr/>
        </p:nvSpPr>
        <p:spPr>
          <a:xfrm>
            <a:off x="7479792" y="4709160"/>
            <a:ext cx="1417320" cy="201168"/>
          </a:xfrm>
          <a:prstGeom prst="rect">
            <a:avLst/>
          </a:prstGeom>
          <a:noFill/>
          <a:ln/>
        </p:spPr>
        <p:txBody>
          <a:bodyPr wrap="square" lIns="0" tIns="0" rIns="0" bIns="0" rtlCol="0" anchor="ctr"/>
          <a:lstStyle/>
          <a:p>
            <a:pPr marL="0" indent="0">
              <a:buNone/>
            </a:pPr>
            <a:r>
              <a:rPr lang="en-US" sz="800" dirty="0">
                <a:solidFill>
                  <a:srgbClr val="CBD5E1"/>
                </a:solidFill>
              </a:rPr>
              <a:t>Admin Only</a:t>
            </a:r>
            <a:endParaRPr lang="en-US" sz="800" dirty="0"/>
          </a:p>
        </p:txBody>
      </p:sp>
      <p:sp>
        <p:nvSpPr>
          <p:cNvPr id="93" name="Text 91"/>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8  |  FRONTEND VIEWS</a:t>
            </a:r>
            <a:endParaRPr lang="en-US" sz="900" dirty="0"/>
          </a:p>
        </p:txBody>
      </p:sp>
      <p:sp>
        <p:nvSpPr>
          <p:cNvPr id="6" name="Text 4"/>
          <p:cNvSpPr/>
          <p:nvPr/>
        </p:nvSpPr>
        <p:spPr>
          <a:xfrm>
            <a:off x="320040" y="594360"/>
            <a:ext cx="8503920" cy="749808"/>
          </a:xfrm>
          <a:prstGeom prst="rect">
            <a:avLst/>
          </a:prstGeom>
          <a:noFill/>
          <a:ln/>
        </p:spPr>
        <p:txBody>
          <a:bodyPr wrap="square" lIns="0" tIns="0" rIns="0" bIns="0" rtlCol="0" anchor="ctr"/>
          <a:lstStyle/>
          <a:p>
            <a:pPr marL="0" indent="0">
              <a:buNone/>
            </a:pPr>
            <a:r>
              <a:rPr lang="en-US" sz="3400" b="1" dirty="0">
                <a:solidFill>
                  <a:srgbClr val="0B1F3A"/>
                </a:solidFill>
                <a:latin typeface="Georgia" pitchFamily="34" charset="0"/>
                <a:ea typeface="Georgia" pitchFamily="34" charset="-122"/>
                <a:cs typeface="Georgia" pitchFamily="34" charset="-120"/>
              </a:rPr>
              <a:t>Application Frontend — Page Overview</a:t>
            </a:r>
            <a:endParaRPr lang="en-US" sz="3400" dirty="0"/>
          </a:p>
        </p:txBody>
      </p:sp>
      <p:sp>
        <p:nvSpPr>
          <p:cNvPr id="7" name="Shape 5"/>
          <p:cNvSpPr/>
          <p:nvPr/>
        </p:nvSpPr>
        <p:spPr>
          <a:xfrm>
            <a:off x="228600" y="1463040"/>
            <a:ext cx="2834640" cy="1005840"/>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8" name="Shape 6"/>
          <p:cNvSpPr/>
          <p:nvPr/>
        </p:nvSpPr>
        <p:spPr>
          <a:xfrm>
            <a:off x="228600" y="1463040"/>
            <a:ext cx="64008" cy="1005840"/>
          </a:xfrm>
          <a:prstGeom prst="rect">
            <a:avLst/>
          </a:prstGeom>
          <a:solidFill>
            <a:srgbClr val="2196F3"/>
          </a:solidFill>
          <a:ln w="12700">
            <a:solidFill>
              <a:srgbClr val="2196F3"/>
            </a:solidFill>
            <a:prstDash val="solid"/>
          </a:ln>
        </p:spPr>
      </p:sp>
      <p:sp>
        <p:nvSpPr>
          <p:cNvPr id="9" name="Shape 7"/>
          <p:cNvSpPr/>
          <p:nvPr/>
        </p:nvSpPr>
        <p:spPr>
          <a:xfrm>
            <a:off x="374904" y="1645920"/>
            <a:ext cx="530352" cy="530352"/>
          </a:xfrm>
          <a:prstGeom prst="ellipse">
            <a:avLst/>
          </a:prstGeom>
          <a:solidFill>
            <a:srgbClr val="2196F3">
              <a:alpha val="15000"/>
            </a:srgbClr>
          </a:solidFill>
          <a:ln w="12700">
            <a:solidFill>
              <a:srgbClr val="2196F3"/>
            </a:solidFill>
            <a:prstDash val="solid"/>
          </a:ln>
        </p:spPr>
      </p:sp>
      <p:sp>
        <p:nvSpPr>
          <p:cNvPr id="10" name="Text 8"/>
          <p:cNvSpPr/>
          <p:nvPr/>
        </p:nvSpPr>
        <p:spPr>
          <a:xfrm>
            <a:off x="374904" y="1645920"/>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1" name="Text 9"/>
          <p:cNvSpPr/>
          <p:nvPr/>
        </p:nvSpPr>
        <p:spPr>
          <a:xfrm>
            <a:off x="1033272" y="1554480"/>
            <a:ext cx="1920240" cy="274320"/>
          </a:xfrm>
          <a:prstGeom prst="rect">
            <a:avLst/>
          </a:prstGeom>
          <a:noFill/>
          <a:ln/>
        </p:spPr>
        <p:txBody>
          <a:bodyPr wrap="square" lIns="0" tIns="0" rIns="0" bIns="0" rtlCol="0" anchor="ctr"/>
          <a:lstStyle/>
          <a:p>
            <a:pPr marL="0" indent="0">
              <a:buNone/>
            </a:pPr>
            <a:r>
              <a:rPr lang="en-US" sz="1100" b="1" dirty="0">
                <a:solidFill>
                  <a:srgbClr val="2196F3"/>
                </a:solidFill>
              </a:rPr>
              <a:t>Login Page</a:t>
            </a:r>
            <a:endParaRPr lang="en-US" sz="1100" dirty="0"/>
          </a:p>
        </p:txBody>
      </p:sp>
      <p:sp>
        <p:nvSpPr>
          <p:cNvPr id="12" name="Text 10"/>
          <p:cNvSpPr/>
          <p:nvPr/>
        </p:nvSpPr>
        <p:spPr>
          <a:xfrm>
            <a:off x="1033272" y="1847088"/>
            <a:ext cx="1920240" cy="566928"/>
          </a:xfrm>
          <a:prstGeom prst="rect">
            <a:avLst/>
          </a:prstGeom>
          <a:noFill/>
          <a:ln/>
        </p:spPr>
        <p:txBody>
          <a:bodyPr wrap="square" lIns="0" tIns="0" rIns="0" bIns="0" rtlCol="0" anchor="ctr"/>
          <a:lstStyle/>
          <a:p>
            <a:pPr marL="0" indent="0">
              <a:buNone/>
            </a:pPr>
            <a:r>
              <a:rPr lang="en-US" sz="850" dirty="0">
                <a:solidFill>
                  <a:srgbClr val="64748B"/>
                </a:solidFill>
              </a:rPr>
              <a:t>Login / Signup + Forgot Password with reset token link displayed on screen</a:t>
            </a:r>
            <a:endParaRPr lang="en-US" sz="850" dirty="0"/>
          </a:p>
        </p:txBody>
      </p:sp>
      <p:sp>
        <p:nvSpPr>
          <p:cNvPr id="13" name="Shape 11"/>
          <p:cNvSpPr/>
          <p:nvPr/>
        </p:nvSpPr>
        <p:spPr>
          <a:xfrm>
            <a:off x="3200400" y="1463040"/>
            <a:ext cx="2834640" cy="1005840"/>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14" name="Shape 12"/>
          <p:cNvSpPr/>
          <p:nvPr/>
        </p:nvSpPr>
        <p:spPr>
          <a:xfrm>
            <a:off x="3200400" y="1463040"/>
            <a:ext cx="64008" cy="1005840"/>
          </a:xfrm>
          <a:prstGeom prst="rect">
            <a:avLst/>
          </a:prstGeom>
          <a:solidFill>
            <a:srgbClr val="00C9A7"/>
          </a:solidFill>
          <a:ln w="12700">
            <a:solidFill>
              <a:srgbClr val="00C9A7"/>
            </a:solidFill>
            <a:prstDash val="solid"/>
          </a:ln>
        </p:spPr>
      </p:sp>
      <p:sp>
        <p:nvSpPr>
          <p:cNvPr id="15" name="Shape 13"/>
          <p:cNvSpPr/>
          <p:nvPr/>
        </p:nvSpPr>
        <p:spPr>
          <a:xfrm>
            <a:off x="3346704" y="1645920"/>
            <a:ext cx="530352" cy="530352"/>
          </a:xfrm>
          <a:prstGeom prst="ellipse">
            <a:avLst/>
          </a:prstGeom>
          <a:solidFill>
            <a:srgbClr val="00C9A7">
              <a:alpha val="15000"/>
            </a:srgbClr>
          </a:solidFill>
          <a:ln w="12700">
            <a:solidFill>
              <a:srgbClr val="00C9A7"/>
            </a:solidFill>
            <a:prstDash val="solid"/>
          </a:ln>
        </p:spPr>
      </p:sp>
      <p:sp>
        <p:nvSpPr>
          <p:cNvPr id="16" name="Text 14"/>
          <p:cNvSpPr/>
          <p:nvPr/>
        </p:nvSpPr>
        <p:spPr>
          <a:xfrm>
            <a:off x="3346704" y="1645920"/>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7" name="Text 15"/>
          <p:cNvSpPr/>
          <p:nvPr/>
        </p:nvSpPr>
        <p:spPr>
          <a:xfrm>
            <a:off x="4005072" y="1554480"/>
            <a:ext cx="1920240" cy="274320"/>
          </a:xfrm>
          <a:prstGeom prst="rect">
            <a:avLst/>
          </a:prstGeom>
          <a:noFill/>
          <a:ln/>
        </p:spPr>
        <p:txBody>
          <a:bodyPr wrap="square" lIns="0" tIns="0" rIns="0" bIns="0" rtlCol="0" anchor="ctr"/>
          <a:lstStyle/>
          <a:p>
            <a:pPr marL="0" indent="0">
              <a:buNone/>
            </a:pPr>
            <a:r>
              <a:rPr lang="en-US" sz="1100" b="1" dirty="0">
                <a:solidFill>
                  <a:srgbClr val="00C9A7"/>
                </a:solidFill>
              </a:rPr>
              <a:t>Home / Browse</a:t>
            </a:r>
            <a:endParaRPr lang="en-US" sz="1100" dirty="0"/>
          </a:p>
        </p:txBody>
      </p:sp>
      <p:sp>
        <p:nvSpPr>
          <p:cNvPr id="18" name="Text 16"/>
          <p:cNvSpPr/>
          <p:nvPr/>
        </p:nvSpPr>
        <p:spPr>
          <a:xfrm>
            <a:off x="4005072" y="1847088"/>
            <a:ext cx="1920240" cy="566928"/>
          </a:xfrm>
          <a:prstGeom prst="rect">
            <a:avLst/>
          </a:prstGeom>
          <a:noFill/>
          <a:ln/>
        </p:spPr>
        <p:txBody>
          <a:bodyPr wrap="square" lIns="0" tIns="0" rIns="0" bIns="0" rtlCol="0" anchor="ctr"/>
          <a:lstStyle/>
          <a:p>
            <a:pPr marL="0" indent="0">
              <a:buNone/>
            </a:pPr>
            <a:r>
              <a:rPr lang="en-US" sz="850" dirty="0">
                <a:solidFill>
                  <a:srgbClr val="64748B"/>
                </a:solidFill>
              </a:rPr>
              <a:t>Hero banner, category filter bar, search, pet grid with wishlist toggle</a:t>
            </a:r>
            <a:endParaRPr lang="en-US" sz="850" dirty="0"/>
          </a:p>
        </p:txBody>
      </p:sp>
      <p:sp>
        <p:nvSpPr>
          <p:cNvPr id="19" name="Shape 17"/>
          <p:cNvSpPr/>
          <p:nvPr/>
        </p:nvSpPr>
        <p:spPr>
          <a:xfrm>
            <a:off x="6172200" y="1463040"/>
            <a:ext cx="2834640" cy="1005840"/>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20" name="Shape 18"/>
          <p:cNvSpPr/>
          <p:nvPr/>
        </p:nvSpPr>
        <p:spPr>
          <a:xfrm>
            <a:off x="6172200" y="1463040"/>
            <a:ext cx="64008" cy="1005840"/>
          </a:xfrm>
          <a:prstGeom prst="rect">
            <a:avLst/>
          </a:prstGeom>
          <a:solidFill>
            <a:srgbClr val="FF6B35"/>
          </a:solidFill>
          <a:ln w="12700">
            <a:solidFill>
              <a:srgbClr val="FF6B35"/>
            </a:solidFill>
            <a:prstDash val="solid"/>
          </a:ln>
        </p:spPr>
      </p:sp>
      <p:sp>
        <p:nvSpPr>
          <p:cNvPr id="21" name="Shape 19"/>
          <p:cNvSpPr/>
          <p:nvPr/>
        </p:nvSpPr>
        <p:spPr>
          <a:xfrm>
            <a:off x="6318504" y="1645920"/>
            <a:ext cx="530352" cy="530352"/>
          </a:xfrm>
          <a:prstGeom prst="ellipse">
            <a:avLst/>
          </a:prstGeom>
          <a:solidFill>
            <a:srgbClr val="FF6B35">
              <a:alpha val="15000"/>
            </a:srgbClr>
          </a:solidFill>
          <a:ln w="12700">
            <a:solidFill>
              <a:srgbClr val="FF6B35"/>
            </a:solidFill>
            <a:prstDash val="solid"/>
          </a:ln>
        </p:spPr>
      </p:sp>
      <p:sp>
        <p:nvSpPr>
          <p:cNvPr id="22" name="Text 20"/>
          <p:cNvSpPr/>
          <p:nvPr/>
        </p:nvSpPr>
        <p:spPr>
          <a:xfrm>
            <a:off x="6318504" y="1645920"/>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3" name="Text 21"/>
          <p:cNvSpPr/>
          <p:nvPr/>
        </p:nvSpPr>
        <p:spPr>
          <a:xfrm>
            <a:off x="6976872" y="1554480"/>
            <a:ext cx="1920240" cy="274320"/>
          </a:xfrm>
          <a:prstGeom prst="rect">
            <a:avLst/>
          </a:prstGeom>
          <a:noFill/>
          <a:ln/>
        </p:spPr>
        <p:txBody>
          <a:bodyPr wrap="square" lIns="0" tIns="0" rIns="0" bIns="0" rtlCol="0" anchor="ctr"/>
          <a:lstStyle/>
          <a:p>
            <a:pPr marL="0" indent="0">
              <a:buNone/>
            </a:pPr>
            <a:r>
              <a:rPr lang="en-US" sz="1100" b="1" dirty="0">
                <a:solidFill>
                  <a:srgbClr val="FF6B35"/>
                </a:solidFill>
              </a:rPr>
              <a:t>Pet Detail Page</a:t>
            </a:r>
            <a:endParaRPr lang="en-US" sz="1100" dirty="0"/>
          </a:p>
        </p:txBody>
      </p:sp>
      <p:sp>
        <p:nvSpPr>
          <p:cNvPr id="24" name="Text 22"/>
          <p:cNvSpPr/>
          <p:nvPr/>
        </p:nvSpPr>
        <p:spPr>
          <a:xfrm>
            <a:off x="6976872" y="1847088"/>
            <a:ext cx="1920240" cy="566928"/>
          </a:xfrm>
          <a:prstGeom prst="rect">
            <a:avLst/>
          </a:prstGeom>
          <a:noFill/>
          <a:ln/>
        </p:spPr>
        <p:txBody>
          <a:bodyPr wrap="square" lIns="0" tIns="0" rIns="0" bIns="0" rtlCol="0" anchor="ctr"/>
          <a:lstStyle/>
          <a:p>
            <a:pPr marL="0" indent="0">
              <a:buNone/>
            </a:pPr>
            <a:r>
              <a:rPr lang="en-US" sz="850" dirty="0">
                <a:solidFill>
                  <a:srgbClr val="64748B"/>
                </a:solidFill>
              </a:rPr>
              <a:t>Multi-image gallery ◄ ►, full-screen lightbox, owner-only edit/delete controls</a:t>
            </a:r>
            <a:endParaRPr lang="en-US" sz="850" dirty="0"/>
          </a:p>
        </p:txBody>
      </p:sp>
      <p:sp>
        <p:nvSpPr>
          <p:cNvPr id="25" name="Shape 23"/>
          <p:cNvSpPr/>
          <p:nvPr/>
        </p:nvSpPr>
        <p:spPr>
          <a:xfrm>
            <a:off x="228600" y="2633472"/>
            <a:ext cx="2834640" cy="1005840"/>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26" name="Shape 24"/>
          <p:cNvSpPr/>
          <p:nvPr/>
        </p:nvSpPr>
        <p:spPr>
          <a:xfrm>
            <a:off x="228600" y="2633472"/>
            <a:ext cx="64008" cy="1005840"/>
          </a:xfrm>
          <a:prstGeom prst="rect">
            <a:avLst/>
          </a:prstGeom>
          <a:solidFill>
            <a:srgbClr val="0097A7"/>
          </a:solidFill>
          <a:ln w="12700">
            <a:solidFill>
              <a:srgbClr val="0097A7"/>
            </a:solidFill>
            <a:prstDash val="solid"/>
          </a:ln>
        </p:spPr>
      </p:sp>
      <p:sp>
        <p:nvSpPr>
          <p:cNvPr id="27" name="Shape 25"/>
          <p:cNvSpPr/>
          <p:nvPr/>
        </p:nvSpPr>
        <p:spPr>
          <a:xfrm>
            <a:off x="374904" y="2816352"/>
            <a:ext cx="530352" cy="530352"/>
          </a:xfrm>
          <a:prstGeom prst="ellipse">
            <a:avLst/>
          </a:prstGeom>
          <a:solidFill>
            <a:srgbClr val="0097A7">
              <a:alpha val="15000"/>
            </a:srgbClr>
          </a:solidFill>
          <a:ln w="12700">
            <a:solidFill>
              <a:srgbClr val="0097A7"/>
            </a:solidFill>
            <a:prstDash val="solid"/>
          </a:ln>
        </p:spPr>
      </p:sp>
      <p:sp>
        <p:nvSpPr>
          <p:cNvPr id="28" name="Text 26"/>
          <p:cNvSpPr/>
          <p:nvPr/>
        </p:nvSpPr>
        <p:spPr>
          <a:xfrm>
            <a:off x="374904" y="2816352"/>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9" name="Text 27"/>
          <p:cNvSpPr/>
          <p:nvPr/>
        </p:nvSpPr>
        <p:spPr>
          <a:xfrm>
            <a:off x="1033272" y="2724912"/>
            <a:ext cx="1920240" cy="274320"/>
          </a:xfrm>
          <a:prstGeom prst="rect">
            <a:avLst/>
          </a:prstGeom>
          <a:noFill/>
          <a:ln/>
        </p:spPr>
        <p:txBody>
          <a:bodyPr wrap="square" lIns="0" tIns="0" rIns="0" bIns="0" rtlCol="0" anchor="ctr"/>
          <a:lstStyle/>
          <a:p>
            <a:pPr marL="0" indent="0">
              <a:buNone/>
            </a:pPr>
            <a:r>
              <a:rPr lang="en-US" sz="1100" b="1" dirty="0">
                <a:solidFill>
                  <a:srgbClr val="0097A7"/>
                </a:solidFill>
              </a:rPr>
              <a:t>Post Ad</a:t>
            </a:r>
            <a:endParaRPr lang="en-US" sz="1100" dirty="0"/>
          </a:p>
        </p:txBody>
      </p:sp>
      <p:sp>
        <p:nvSpPr>
          <p:cNvPr id="30" name="Text 28"/>
          <p:cNvSpPr/>
          <p:nvPr/>
        </p:nvSpPr>
        <p:spPr>
          <a:xfrm>
            <a:off x="1033272" y="3017520"/>
            <a:ext cx="1920240" cy="566928"/>
          </a:xfrm>
          <a:prstGeom prst="rect">
            <a:avLst/>
          </a:prstGeom>
          <a:noFill/>
          <a:ln/>
        </p:spPr>
        <p:txBody>
          <a:bodyPr wrap="square" lIns="0" tIns="0" rIns="0" bIns="0" rtlCol="0" anchor="ctr"/>
          <a:lstStyle/>
          <a:p>
            <a:pPr marL="0" indent="0">
              <a:buNone/>
            </a:pPr>
            <a:r>
              <a:rPr lang="en-US" sz="850" dirty="0">
                <a:solidFill>
                  <a:srgbClr val="64748B"/>
                </a:solidFill>
              </a:rPr>
              <a:t>Upload up to 6 photos, pet details, price type, health info, location fields</a:t>
            </a:r>
            <a:endParaRPr lang="en-US" sz="850" dirty="0"/>
          </a:p>
        </p:txBody>
      </p:sp>
      <p:sp>
        <p:nvSpPr>
          <p:cNvPr id="31" name="Shape 29"/>
          <p:cNvSpPr/>
          <p:nvPr/>
        </p:nvSpPr>
        <p:spPr>
          <a:xfrm>
            <a:off x="3200400" y="2633472"/>
            <a:ext cx="2834640" cy="1005840"/>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32" name="Shape 30"/>
          <p:cNvSpPr/>
          <p:nvPr/>
        </p:nvSpPr>
        <p:spPr>
          <a:xfrm>
            <a:off x="3200400" y="2633472"/>
            <a:ext cx="64008" cy="1005840"/>
          </a:xfrm>
          <a:prstGeom prst="rect">
            <a:avLst/>
          </a:prstGeom>
          <a:solidFill>
            <a:srgbClr val="2196F3"/>
          </a:solidFill>
          <a:ln w="12700">
            <a:solidFill>
              <a:srgbClr val="2196F3"/>
            </a:solidFill>
            <a:prstDash val="solid"/>
          </a:ln>
        </p:spPr>
      </p:sp>
      <p:sp>
        <p:nvSpPr>
          <p:cNvPr id="33" name="Shape 31"/>
          <p:cNvSpPr/>
          <p:nvPr/>
        </p:nvSpPr>
        <p:spPr>
          <a:xfrm>
            <a:off x="3346704" y="2816352"/>
            <a:ext cx="530352" cy="530352"/>
          </a:xfrm>
          <a:prstGeom prst="ellipse">
            <a:avLst/>
          </a:prstGeom>
          <a:solidFill>
            <a:srgbClr val="2196F3">
              <a:alpha val="15000"/>
            </a:srgbClr>
          </a:solidFill>
          <a:ln w="12700">
            <a:solidFill>
              <a:srgbClr val="2196F3"/>
            </a:solidFill>
            <a:prstDash val="solid"/>
          </a:ln>
        </p:spPr>
      </p:sp>
      <p:sp>
        <p:nvSpPr>
          <p:cNvPr id="34" name="Text 32"/>
          <p:cNvSpPr/>
          <p:nvPr/>
        </p:nvSpPr>
        <p:spPr>
          <a:xfrm>
            <a:off x="3346704" y="2816352"/>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5" name="Text 33"/>
          <p:cNvSpPr/>
          <p:nvPr/>
        </p:nvSpPr>
        <p:spPr>
          <a:xfrm>
            <a:off x="4005072" y="2724912"/>
            <a:ext cx="1920240" cy="274320"/>
          </a:xfrm>
          <a:prstGeom prst="rect">
            <a:avLst/>
          </a:prstGeom>
          <a:noFill/>
          <a:ln/>
        </p:spPr>
        <p:txBody>
          <a:bodyPr wrap="square" lIns="0" tIns="0" rIns="0" bIns="0" rtlCol="0" anchor="ctr"/>
          <a:lstStyle/>
          <a:p>
            <a:pPr marL="0" indent="0">
              <a:buNone/>
            </a:pPr>
            <a:r>
              <a:rPr lang="en-US" sz="1100" b="1" dirty="0">
                <a:solidFill>
                  <a:srgbClr val="2196F3"/>
                </a:solidFill>
              </a:rPr>
              <a:t>Chat / Messages</a:t>
            </a:r>
            <a:endParaRPr lang="en-US" sz="1100" dirty="0"/>
          </a:p>
        </p:txBody>
      </p:sp>
      <p:sp>
        <p:nvSpPr>
          <p:cNvPr id="36" name="Text 34"/>
          <p:cNvSpPr/>
          <p:nvPr/>
        </p:nvSpPr>
        <p:spPr>
          <a:xfrm>
            <a:off x="4005072" y="3017520"/>
            <a:ext cx="1920240" cy="566928"/>
          </a:xfrm>
          <a:prstGeom prst="rect">
            <a:avLst/>
          </a:prstGeom>
          <a:noFill/>
          <a:ln/>
        </p:spPr>
        <p:txBody>
          <a:bodyPr wrap="square" lIns="0" tIns="0" rIns="0" bIns="0" rtlCol="0" anchor="ctr"/>
          <a:lstStyle/>
          <a:p>
            <a:pPr marL="0" indent="0">
              <a:buNone/>
            </a:pPr>
            <a:r>
              <a:rPr lang="en-US" sz="850" dirty="0">
                <a:solidFill>
                  <a:srgbClr val="64748B"/>
                </a:solidFill>
              </a:rPr>
              <a:t>Message inbox with all conversations, WhatsApp-style chat window per listing</a:t>
            </a:r>
            <a:endParaRPr lang="en-US" sz="850" dirty="0"/>
          </a:p>
        </p:txBody>
      </p:sp>
      <p:sp>
        <p:nvSpPr>
          <p:cNvPr id="37" name="Shape 35"/>
          <p:cNvSpPr/>
          <p:nvPr/>
        </p:nvSpPr>
        <p:spPr>
          <a:xfrm>
            <a:off x="6172200" y="2633472"/>
            <a:ext cx="2834640" cy="1005840"/>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38" name="Shape 36"/>
          <p:cNvSpPr/>
          <p:nvPr/>
        </p:nvSpPr>
        <p:spPr>
          <a:xfrm>
            <a:off x="6172200" y="2633472"/>
            <a:ext cx="64008" cy="1005840"/>
          </a:xfrm>
          <a:prstGeom prst="rect">
            <a:avLst/>
          </a:prstGeom>
          <a:solidFill>
            <a:srgbClr val="FF6B35"/>
          </a:solidFill>
          <a:ln w="12700">
            <a:solidFill>
              <a:srgbClr val="FF6B35"/>
            </a:solidFill>
            <a:prstDash val="solid"/>
          </a:ln>
        </p:spPr>
      </p:sp>
      <p:sp>
        <p:nvSpPr>
          <p:cNvPr id="39" name="Shape 37"/>
          <p:cNvSpPr/>
          <p:nvPr/>
        </p:nvSpPr>
        <p:spPr>
          <a:xfrm>
            <a:off x="6318504" y="2816352"/>
            <a:ext cx="530352" cy="530352"/>
          </a:xfrm>
          <a:prstGeom prst="ellipse">
            <a:avLst/>
          </a:prstGeom>
          <a:solidFill>
            <a:srgbClr val="FF6B35">
              <a:alpha val="15000"/>
            </a:srgbClr>
          </a:solidFill>
          <a:ln w="12700">
            <a:solidFill>
              <a:srgbClr val="FF6B35"/>
            </a:solidFill>
            <a:prstDash val="solid"/>
          </a:ln>
        </p:spPr>
      </p:sp>
      <p:sp>
        <p:nvSpPr>
          <p:cNvPr id="40" name="Text 38"/>
          <p:cNvSpPr/>
          <p:nvPr/>
        </p:nvSpPr>
        <p:spPr>
          <a:xfrm>
            <a:off x="6318504" y="2816352"/>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1" name="Text 39"/>
          <p:cNvSpPr/>
          <p:nvPr/>
        </p:nvSpPr>
        <p:spPr>
          <a:xfrm>
            <a:off x="6976872" y="2724912"/>
            <a:ext cx="1920240" cy="274320"/>
          </a:xfrm>
          <a:prstGeom prst="rect">
            <a:avLst/>
          </a:prstGeom>
          <a:noFill/>
          <a:ln/>
        </p:spPr>
        <p:txBody>
          <a:bodyPr wrap="square" lIns="0" tIns="0" rIns="0" bIns="0" rtlCol="0" anchor="ctr"/>
          <a:lstStyle/>
          <a:p>
            <a:pPr marL="0" indent="0">
              <a:buNone/>
            </a:pPr>
            <a:r>
              <a:rPr lang="en-US" sz="1100" b="1" dirty="0">
                <a:solidFill>
                  <a:srgbClr val="FF6B35"/>
                </a:solidFill>
              </a:rPr>
              <a:t>My Ads Dashboard</a:t>
            </a:r>
            <a:endParaRPr lang="en-US" sz="1100" dirty="0"/>
          </a:p>
        </p:txBody>
      </p:sp>
      <p:sp>
        <p:nvSpPr>
          <p:cNvPr id="42" name="Text 40"/>
          <p:cNvSpPr/>
          <p:nvPr/>
        </p:nvSpPr>
        <p:spPr>
          <a:xfrm>
            <a:off x="6976872" y="3017520"/>
            <a:ext cx="1920240" cy="566928"/>
          </a:xfrm>
          <a:prstGeom prst="rect">
            <a:avLst/>
          </a:prstGeom>
          <a:noFill/>
          <a:ln/>
        </p:spPr>
        <p:txBody>
          <a:bodyPr wrap="square" lIns="0" tIns="0" rIns="0" bIns="0" rtlCol="0" anchor="ctr"/>
          <a:lstStyle/>
          <a:p>
            <a:pPr marL="0" indent="0">
              <a:buNone/>
            </a:pPr>
            <a:r>
              <a:rPr lang="en-US" sz="850" dirty="0">
                <a:solidFill>
                  <a:srgbClr val="64748B"/>
                </a:solidFill>
              </a:rPr>
              <a:t>Active/Sold listings, edit, delete, mark as sold/adopted, view count shown</a:t>
            </a:r>
            <a:endParaRPr lang="en-US" sz="850" dirty="0"/>
          </a:p>
        </p:txBody>
      </p:sp>
      <p:sp>
        <p:nvSpPr>
          <p:cNvPr id="43" name="Shape 41"/>
          <p:cNvSpPr/>
          <p:nvPr/>
        </p:nvSpPr>
        <p:spPr>
          <a:xfrm>
            <a:off x="228600" y="3803904"/>
            <a:ext cx="2834640" cy="1005840"/>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44" name="Shape 42"/>
          <p:cNvSpPr/>
          <p:nvPr/>
        </p:nvSpPr>
        <p:spPr>
          <a:xfrm>
            <a:off x="228600" y="3803904"/>
            <a:ext cx="64008" cy="1005840"/>
          </a:xfrm>
          <a:prstGeom prst="rect">
            <a:avLst/>
          </a:prstGeom>
          <a:solidFill>
            <a:srgbClr val="00C9A7"/>
          </a:solidFill>
          <a:ln w="12700">
            <a:solidFill>
              <a:srgbClr val="00C9A7"/>
            </a:solidFill>
            <a:prstDash val="solid"/>
          </a:ln>
        </p:spPr>
      </p:sp>
      <p:sp>
        <p:nvSpPr>
          <p:cNvPr id="45" name="Shape 43"/>
          <p:cNvSpPr/>
          <p:nvPr/>
        </p:nvSpPr>
        <p:spPr>
          <a:xfrm>
            <a:off x="374904" y="3986784"/>
            <a:ext cx="530352" cy="530352"/>
          </a:xfrm>
          <a:prstGeom prst="ellipse">
            <a:avLst/>
          </a:prstGeom>
          <a:solidFill>
            <a:srgbClr val="00C9A7">
              <a:alpha val="15000"/>
            </a:srgbClr>
          </a:solidFill>
          <a:ln w="12700">
            <a:solidFill>
              <a:srgbClr val="00C9A7"/>
            </a:solidFill>
            <a:prstDash val="solid"/>
          </a:ln>
        </p:spPr>
      </p:sp>
      <p:sp>
        <p:nvSpPr>
          <p:cNvPr id="46" name="Text 44"/>
          <p:cNvSpPr/>
          <p:nvPr/>
        </p:nvSpPr>
        <p:spPr>
          <a:xfrm>
            <a:off x="374904" y="3986784"/>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7" name="Text 45"/>
          <p:cNvSpPr/>
          <p:nvPr/>
        </p:nvSpPr>
        <p:spPr>
          <a:xfrm>
            <a:off x="1033272" y="3895344"/>
            <a:ext cx="1920240" cy="274320"/>
          </a:xfrm>
          <a:prstGeom prst="rect">
            <a:avLst/>
          </a:prstGeom>
          <a:noFill/>
          <a:ln/>
        </p:spPr>
        <p:txBody>
          <a:bodyPr wrap="square" lIns="0" tIns="0" rIns="0" bIns="0" rtlCol="0" anchor="ctr"/>
          <a:lstStyle/>
          <a:p>
            <a:pPr marL="0" indent="0">
              <a:buNone/>
            </a:pPr>
            <a:r>
              <a:rPr lang="en-US" sz="1100" b="1" dirty="0">
                <a:solidFill>
                  <a:srgbClr val="00C9A7"/>
                </a:solidFill>
              </a:rPr>
              <a:t>Budget Filter</a:t>
            </a:r>
            <a:endParaRPr lang="en-US" sz="1100" dirty="0"/>
          </a:p>
        </p:txBody>
      </p:sp>
      <p:sp>
        <p:nvSpPr>
          <p:cNvPr id="48" name="Text 46"/>
          <p:cNvSpPr/>
          <p:nvPr/>
        </p:nvSpPr>
        <p:spPr>
          <a:xfrm>
            <a:off x="1033272" y="4187952"/>
            <a:ext cx="1920240" cy="566928"/>
          </a:xfrm>
          <a:prstGeom prst="rect">
            <a:avLst/>
          </a:prstGeom>
          <a:noFill/>
          <a:ln/>
        </p:spPr>
        <p:txBody>
          <a:bodyPr wrap="square" lIns="0" tIns="0" rIns="0" bIns="0" rtlCol="0" anchor="ctr"/>
          <a:lstStyle/>
          <a:p>
            <a:pPr marL="0" indent="0">
              <a:buNone/>
            </a:pPr>
            <a:r>
              <a:rPr lang="en-US" sz="850" dirty="0">
                <a:solidFill>
                  <a:srgbClr val="64748B"/>
                </a:solidFill>
              </a:rPr>
              <a:t>6 price ranges with sample pet thumbnails, each links to filtered results</a:t>
            </a:r>
            <a:endParaRPr lang="en-US" sz="850" dirty="0"/>
          </a:p>
        </p:txBody>
      </p:sp>
      <p:sp>
        <p:nvSpPr>
          <p:cNvPr id="49" name="Shape 47"/>
          <p:cNvSpPr/>
          <p:nvPr/>
        </p:nvSpPr>
        <p:spPr>
          <a:xfrm>
            <a:off x="3200400" y="3803904"/>
            <a:ext cx="2834640" cy="1005840"/>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50" name="Shape 48"/>
          <p:cNvSpPr/>
          <p:nvPr/>
        </p:nvSpPr>
        <p:spPr>
          <a:xfrm>
            <a:off x="3200400" y="3803904"/>
            <a:ext cx="64008" cy="1005840"/>
          </a:xfrm>
          <a:prstGeom prst="rect">
            <a:avLst/>
          </a:prstGeom>
          <a:solidFill>
            <a:srgbClr val="E53935"/>
          </a:solidFill>
          <a:ln w="12700">
            <a:solidFill>
              <a:srgbClr val="E53935"/>
            </a:solidFill>
            <a:prstDash val="solid"/>
          </a:ln>
        </p:spPr>
      </p:sp>
      <p:sp>
        <p:nvSpPr>
          <p:cNvPr id="51" name="Shape 49"/>
          <p:cNvSpPr/>
          <p:nvPr/>
        </p:nvSpPr>
        <p:spPr>
          <a:xfrm>
            <a:off x="3346704" y="3986784"/>
            <a:ext cx="530352" cy="530352"/>
          </a:xfrm>
          <a:prstGeom prst="ellipse">
            <a:avLst/>
          </a:prstGeom>
          <a:solidFill>
            <a:srgbClr val="E53935">
              <a:alpha val="15000"/>
            </a:srgbClr>
          </a:solidFill>
          <a:ln w="12700">
            <a:solidFill>
              <a:srgbClr val="E53935"/>
            </a:solidFill>
            <a:prstDash val="solid"/>
          </a:ln>
        </p:spPr>
      </p:sp>
      <p:sp>
        <p:nvSpPr>
          <p:cNvPr id="52" name="Text 50"/>
          <p:cNvSpPr/>
          <p:nvPr/>
        </p:nvSpPr>
        <p:spPr>
          <a:xfrm>
            <a:off x="3346704" y="3986784"/>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3" name="Text 51"/>
          <p:cNvSpPr/>
          <p:nvPr/>
        </p:nvSpPr>
        <p:spPr>
          <a:xfrm>
            <a:off x="4005072" y="3895344"/>
            <a:ext cx="1920240" cy="274320"/>
          </a:xfrm>
          <a:prstGeom prst="rect">
            <a:avLst/>
          </a:prstGeom>
          <a:noFill/>
          <a:ln/>
        </p:spPr>
        <p:txBody>
          <a:bodyPr wrap="square" lIns="0" tIns="0" rIns="0" bIns="0" rtlCol="0" anchor="ctr"/>
          <a:lstStyle/>
          <a:p>
            <a:pPr marL="0" indent="0">
              <a:buNone/>
            </a:pPr>
            <a:r>
              <a:rPr lang="en-US" sz="1100" b="1" dirty="0">
                <a:solidFill>
                  <a:srgbClr val="E53935"/>
                </a:solidFill>
              </a:rPr>
              <a:t>Wishlist</a:t>
            </a:r>
            <a:endParaRPr lang="en-US" sz="1100" dirty="0"/>
          </a:p>
        </p:txBody>
      </p:sp>
      <p:sp>
        <p:nvSpPr>
          <p:cNvPr id="54" name="Text 52"/>
          <p:cNvSpPr/>
          <p:nvPr/>
        </p:nvSpPr>
        <p:spPr>
          <a:xfrm>
            <a:off x="4005072" y="4187952"/>
            <a:ext cx="1920240" cy="566928"/>
          </a:xfrm>
          <a:prstGeom prst="rect">
            <a:avLst/>
          </a:prstGeom>
          <a:noFill/>
          <a:ln/>
        </p:spPr>
        <p:txBody>
          <a:bodyPr wrap="square" lIns="0" tIns="0" rIns="0" bIns="0" rtlCol="0" anchor="ctr"/>
          <a:lstStyle/>
          <a:p>
            <a:pPr marL="0" indent="0">
              <a:buNone/>
            </a:pPr>
            <a:r>
              <a:rPr lang="en-US" sz="850" dirty="0">
                <a:solidFill>
                  <a:srgbClr val="64748B"/>
                </a:solidFill>
              </a:rPr>
              <a:t>Saved pet ads, heart toggle to remove, browse all saved in one place</a:t>
            </a:r>
            <a:endParaRPr lang="en-US" sz="850" dirty="0"/>
          </a:p>
        </p:txBody>
      </p:sp>
      <p:sp>
        <p:nvSpPr>
          <p:cNvPr id="55" name="Shape 53"/>
          <p:cNvSpPr/>
          <p:nvPr/>
        </p:nvSpPr>
        <p:spPr>
          <a:xfrm>
            <a:off x="6172200" y="3803904"/>
            <a:ext cx="2834640" cy="1005840"/>
          </a:xfrm>
          <a:prstGeom prst="rect">
            <a:avLst/>
          </a:prstGeom>
          <a:solidFill>
            <a:srgbClr val="FFFFFF"/>
          </a:solidFill>
          <a:ln w="6350">
            <a:solidFill>
              <a:srgbClr val="CBD5E1"/>
            </a:solidFill>
            <a:prstDash val="solid"/>
          </a:ln>
          <a:effectLst>
            <a:outerShdw blurRad="76200" dist="25400" dir="8100000" algn="bl" rotWithShape="0">
              <a:srgbClr val="000000">
                <a:alpha val="12000"/>
              </a:srgbClr>
            </a:outerShdw>
          </a:effectLst>
        </p:spPr>
      </p:sp>
      <p:sp>
        <p:nvSpPr>
          <p:cNvPr id="56" name="Shape 54"/>
          <p:cNvSpPr/>
          <p:nvPr/>
        </p:nvSpPr>
        <p:spPr>
          <a:xfrm>
            <a:off x="6172200" y="3803904"/>
            <a:ext cx="64008" cy="1005840"/>
          </a:xfrm>
          <a:prstGeom prst="rect">
            <a:avLst/>
          </a:prstGeom>
          <a:solidFill>
            <a:srgbClr val="7C4DFF"/>
          </a:solidFill>
          <a:ln w="12700">
            <a:solidFill>
              <a:srgbClr val="7C4DFF"/>
            </a:solidFill>
            <a:prstDash val="solid"/>
          </a:ln>
        </p:spPr>
      </p:sp>
      <p:sp>
        <p:nvSpPr>
          <p:cNvPr id="57" name="Shape 55"/>
          <p:cNvSpPr/>
          <p:nvPr/>
        </p:nvSpPr>
        <p:spPr>
          <a:xfrm>
            <a:off x="6318504" y="3986784"/>
            <a:ext cx="530352" cy="530352"/>
          </a:xfrm>
          <a:prstGeom prst="ellipse">
            <a:avLst/>
          </a:prstGeom>
          <a:solidFill>
            <a:srgbClr val="7C4DFF">
              <a:alpha val="15000"/>
            </a:srgbClr>
          </a:solidFill>
          <a:ln w="12700">
            <a:solidFill>
              <a:srgbClr val="7C4DFF"/>
            </a:solidFill>
            <a:prstDash val="solid"/>
          </a:ln>
        </p:spPr>
      </p:sp>
      <p:sp>
        <p:nvSpPr>
          <p:cNvPr id="58" name="Text 56"/>
          <p:cNvSpPr/>
          <p:nvPr/>
        </p:nvSpPr>
        <p:spPr>
          <a:xfrm>
            <a:off x="6318504" y="3986784"/>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9" name="Text 57"/>
          <p:cNvSpPr/>
          <p:nvPr/>
        </p:nvSpPr>
        <p:spPr>
          <a:xfrm>
            <a:off x="6976872" y="3895344"/>
            <a:ext cx="1920240" cy="274320"/>
          </a:xfrm>
          <a:prstGeom prst="rect">
            <a:avLst/>
          </a:prstGeom>
          <a:noFill/>
          <a:ln/>
        </p:spPr>
        <p:txBody>
          <a:bodyPr wrap="square" lIns="0" tIns="0" rIns="0" bIns="0" rtlCol="0" anchor="ctr"/>
          <a:lstStyle/>
          <a:p>
            <a:pPr marL="0" indent="0">
              <a:buNone/>
            </a:pPr>
            <a:r>
              <a:rPr lang="en-US" sz="1100" b="1" dirty="0">
                <a:solidFill>
                  <a:srgbClr val="7C4DFF"/>
                </a:solidFill>
              </a:rPr>
              <a:t>Admin Panel</a:t>
            </a:r>
            <a:endParaRPr lang="en-US" sz="1100" dirty="0"/>
          </a:p>
        </p:txBody>
      </p:sp>
      <p:sp>
        <p:nvSpPr>
          <p:cNvPr id="60" name="Text 58"/>
          <p:cNvSpPr/>
          <p:nvPr/>
        </p:nvSpPr>
        <p:spPr>
          <a:xfrm>
            <a:off x="6976872" y="4187952"/>
            <a:ext cx="1920240" cy="566928"/>
          </a:xfrm>
          <a:prstGeom prst="rect">
            <a:avLst/>
          </a:prstGeom>
          <a:noFill/>
          <a:ln/>
        </p:spPr>
        <p:txBody>
          <a:bodyPr wrap="square" lIns="0" tIns="0" rIns="0" bIns="0" rtlCol="0" anchor="ctr"/>
          <a:lstStyle/>
          <a:p>
            <a:pPr marL="0" indent="0">
              <a:buNone/>
            </a:pPr>
            <a:r>
              <a:rPr lang="en-US" sz="850" dirty="0">
                <a:solidFill>
                  <a:srgbClr val="64748B"/>
                </a:solidFill>
              </a:rPr>
              <a:t>All listings with feature/delete, all users, Charts.js stats dashboard</a:t>
            </a:r>
            <a:endParaRPr lang="en-US" sz="850" dirty="0"/>
          </a:p>
        </p:txBody>
      </p:sp>
      <p:sp>
        <p:nvSpPr>
          <p:cNvPr id="61" name="Text 59"/>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flipV="1">
            <a:off x="0" y="73151"/>
            <a:ext cx="8595360" cy="460847"/>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9  |  PROOF OF PROMPTS</a:t>
            </a:r>
            <a:endParaRPr lang="en-US" sz="900" dirty="0"/>
          </a:p>
        </p:txBody>
      </p:sp>
      <p:sp>
        <p:nvSpPr>
          <p:cNvPr id="6" name="Text 4"/>
          <p:cNvSpPr/>
          <p:nvPr/>
        </p:nvSpPr>
        <p:spPr>
          <a:xfrm>
            <a:off x="320040" y="594360"/>
            <a:ext cx="8503920" cy="749808"/>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Proof of Prompts Generating Code</a:t>
            </a:r>
            <a:endParaRPr lang="en-US" sz="3600" dirty="0"/>
          </a:p>
        </p:txBody>
      </p:sp>
      <p:sp>
        <p:nvSpPr>
          <p:cNvPr id="7" name="Shape 5"/>
          <p:cNvSpPr/>
          <p:nvPr/>
        </p:nvSpPr>
        <p:spPr>
          <a:xfrm>
            <a:off x="228600" y="1444752"/>
            <a:ext cx="4206240" cy="1600200"/>
          </a:xfrm>
          <a:prstGeom prst="rect">
            <a:avLst/>
          </a:prstGeom>
          <a:solidFill>
            <a:srgbClr val="122840"/>
          </a:solidFill>
          <a:ln w="10160">
            <a:solidFill>
              <a:srgbClr val="FF6B35"/>
            </a:solidFill>
            <a:prstDash val="solid"/>
          </a:ln>
        </p:spPr>
      </p:sp>
      <p:sp>
        <p:nvSpPr>
          <p:cNvPr id="8" name="Text 6"/>
          <p:cNvSpPr/>
          <p:nvPr/>
        </p:nvSpPr>
        <p:spPr>
          <a:xfrm>
            <a:off x="228600" y="1719072"/>
            <a:ext cx="42062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9" name="Text 7"/>
          <p:cNvSpPr/>
          <p:nvPr/>
        </p:nvSpPr>
        <p:spPr>
          <a:xfrm>
            <a:off x="228600" y="2313432"/>
            <a:ext cx="4206240" cy="274320"/>
          </a:xfrm>
          <a:prstGeom prst="rect">
            <a:avLst/>
          </a:prstGeom>
          <a:noFill/>
          <a:ln/>
        </p:spPr>
        <p:txBody>
          <a:bodyPr wrap="square" lIns="0" tIns="0" rIns="0" bIns="0" rtlCol="0" anchor="ctr"/>
          <a:lstStyle/>
          <a:p>
            <a:pPr marL="0" indent="0" algn="ctr">
              <a:buNone/>
            </a:pPr>
            <a:r>
              <a:rPr lang="en-US" sz="1100" b="1" dirty="0">
                <a:solidFill>
                  <a:srgbClr val="FF6B35"/>
                </a:solidFill>
              </a:rPr>
              <a:t>Screenshot 1</a:t>
            </a:r>
            <a:endParaRPr lang="en-US" sz="1100" dirty="0"/>
          </a:p>
        </p:txBody>
      </p:sp>
      <p:sp>
        <p:nvSpPr>
          <p:cNvPr id="10" name="Text 8"/>
          <p:cNvSpPr/>
          <p:nvPr/>
        </p:nvSpPr>
        <p:spPr>
          <a:xfrm>
            <a:off x="228600" y="2615184"/>
            <a:ext cx="4206240" cy="347472"/>
          </a:xfrm>
          <a:prstGeom prst="rect">
            <a:avLst/>
          </a:prstGeom>
          <a:noFill/>
          <a:ln/>
        </p:spPr>
        <p:txBody>
          <a:bodyPr wrap="square" lIns="0" tIns="0" rIns="0" bIns="0" rtlCol="0" anchor="ctr"/>
          <a:lstStyle/>
          <a:p>
            <a:pPr marL="0" indent="0" algn="ctr">
              <a:buNone/>
            </a:pPr>
            <a:r>
              <a:rPr lang="en-US" sz="900" dirty="0">
                <a:solidFill>
                  <a:srgbClr val="CBD5E1"/>
                </a:solidFill>
              </a:rPr>
              <a:t>Initial project prompt → full code generation</a:t>
            </a:r>
            <a:endParaRPr lang="en-US" sz="900" dirty="0"/>
          </a:p>
        </p:txBody>
      </p:sp>
      <p:sp>
        <p:nvSpPr>
          <p:cNvPr id="11" name="Shape 9"/>
          <p:cNvSpPr/>
          <p:nvPr/>
        </p:nvSpPr>
        <p:spPr>
          <a:xfrm>
            <a:off x="4681728" y="1444752"/>
            <a:ext cx="4206240" cy="1600200"/>
          </a:xfrm>
          <a:prstGeom prst="rect">
            <a:avLst/>
          </a:prstGeom>
          <a:solidFill>
            <a:srgbClr val="122840"/>
          </a:solidFill>
          <a:ln w="10160">
            <a:solidFill>
              <a:srgbClr val="FF6B35"/>
            </a:solidFill>
            <a:prstDash val="solid"/>
          </a:ln>
        </p:spPr>
      </p:sp>
      <p:sp>
        <p:nvSpPr>
          <p:cNvPr id="12" name="Text 10"/>
          <p:cNvSpPr/>
          <p:nvPr/>
        </p:nvSpPr>
        <p:spPr>
          <a:xfrm>
            <a:off x="4681728" y="1719072"/>
            <a:ext cx="42062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4681728" y="2313432"/>
            <a:ext cx="4206240" cy="274320"/>
          </a:xfrm>
          <a:prstGeom prst="rect">
            <a:avLst/>
          </a:prstGeom>
          <a:noFill/>
          <a:ln/>
        </p:spPr>
        <p:txBody>
          <a:bodyPr wrap="square" lIns="0" tIns="0" rIns="0" bIns="0" rtlCol="0" anchor="ctr"/>
          <a:lstStyle/>
          <a:p>
            <a:pPr marL="0" indent="0" algn="ctr">
              <a:buNone/>
            </a:pPr>
            <a:r>
              <a:rPr lang="en-US" sz="1100" b="1" dirty="0">
                <a:solidFill>
                  <a:srgbClr val="FF6B35"/>
                </a:solidFill>
              </a:rPr>
              <a:t>Screenshot 2</a:t>
            </a:r>
            <a:endParaRPr lang="en-US" sz="1100" dirty="0"/>
          </a:p>
        </p:txBody>
      </p:sp>
      <p:sp>
        <p:nvSpPr>
          <p:cNvPr id="14" name="Text 12"/>
          <p:cNvSpPr/>
          <p:nvPr/>
        </p:nvSpPr>
        <p:spPr>
          <a:xfrm>
            <a:off x="4681728" y="2615184"/>
            <a:ext cx="4206240" cy="347472"/>
          </a:xfrm>
          <a:prstGeom prst="rect">
            <a:avLst/>
          </a:prstGeom>
          <a:noFill/>
          <a:ln/>
        </p:spPr>
        <p:txBody>
          <a:bodyPr wrap="square" lIns="0" tIns="0" rIns="0" bIns="0" rtlCol="0" anchor="ctr"/>
          <a:lstStyle/>
          <a:p>
            <a:pPr marL="0" indent="0" algn="ctr">
              <a:buNone/>
            </a:pPr>
            <a:r>
              <a:rPr lang="en-US" sz="900" dirty="0">
                <a:solidFill>
                  <a:srgbClr val="CBD5E1"/>
                </a:solidFill>
              </a:rPr>
              <a:t>OLX redesign prompt → all pages rebuilt</a:t>
            </a:r>
            <a:endParaRPr lang="en-US" sz="900" dirty="0"/>
          </a:p>
        </p:txBody>
      </p:sp>
      <p:sp>
        <p:nvSpPr>
          <p:cNvPr id="15" name="Shape 13"/>
          <p:cNvSpPr/>
          <p:nvPr/>
        </p:nvSpPr>
        <p:spPr>
          <a:xfrm>
            <a:off x="228600" y="3246120"/>
            <a:ext cx="4206240" cy="1600200"/>
          </a:xfrm>
          <a:prstGeom prst="rect">
            <a:avLst/>
          </a:prstGeom>
          <a:solidFill>
            <a:srgbClr val="122840"/>
          </a:solidFill>
          <a:ln w="10160">
            <a:solidFill>
              <a:srgbClr val="FF6B35"/>
            </a:solidFill>
            <a:prstDash val="solid"/>
          </a:ln>
        </p:spPr>
      </p:sp>
      <p:sp>
        <p:nvSpPr>
          <p:cNvPr id="16" name="Text 14"/>
          <p:cNvSpPr/>
          <p:nvPr/>
        </p:nvSpPr>
        <p:spPr>
          <a:xfrm>
            <a:off x="228600" y="3520440"/>
            <a:ext cx="42062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7" name="Text 15"/>
          <p:cNvSpPr/>
          <p:nvPr/>
        </p:nvSpPr>
        <p:spPr>
          <a:xfrm>
            <a:off x="228600" y="4114800"/>
            <a:ext cx="4206240" cy="274320"/>
          </a:xfrm>
          <a:prstGeom prst="rect">
            <a:avLst/>
          </a:prstGeom>
          <a:noFill/>
          <a:ln/>
        </p:spPr>
        <p:txBody>
          <a:bodyPr wrap="square" lIns="0" tIns="0" rIns="0" bIns="0" rtlCol="0" anchor="ctr"/>
          <a:lstStyle/>
          <a:p>
            <a:pPr marL="0" indent="0" algn="ctr">
              <a:buNone/>
            </a:pPr>
            <a:r>
              <a:rPr lang="en-US" sz="1100" b="1" dirty="0">
                <a:solidFill>
                  <a:srgbClr val="FF6B35"/>
                </a:solidFill>
              </a:rPr>
              <a:t>Screenshot 3</a:t>
            </a:r>
            <a:endParaRPr lang="en-US" sz="1100" dirty="0"/>
          </a:p>
        </p:txBody>
      </p:sp>
      <p:sp>
        <p:nvSpPr>
          <p:cNvPr id="18" name="Text 16"/>
          <p:cNvSpPr/>
          <p:nvPr/>
        </p:nvSpPr>
        <p:spPr>
          <a:xfrm>
            <a:off x="228600" y="4416552"/>
            <a:ext cx="4206240" cy="347472"/>
          </a:xfrm>
          <a:prstGeom prst="rect">
            <a:avLst/>
          </a:prstGeom>
          <a:noFill/>
          <a:ln/>
        </p:spPr>
        <p:txBody>
          <a:bodyPr wrap="square" lIns="0" tIns="0" rIns="0" bIns="0" rtlCol="0" anchor="ctr"/>
          <a:lstStyle/>
          <a:p>
            <a:pPr marL="0" indent="0" algn="ctr">
              <a:buNone/>
            </a:pPr>
            <a:r>
              <a:rPr lang="en-US" sz="900" dirty="0">
                <a:solidFill>
                  <a:srgbClr val="CBD5E1"/>
                </a:solidFill>
              </a:rPr>
              <a:t>Photo gallery + fix prompts → working lightbox</a:t>
            </a:r>
            <a:endParaRPr lang="en-US" sz="900" dirty="0"/>
          </a:p>
        </p:txBody>
      </p:sp>
      <p:sp>
        <p:nvSpPr>
          <p:cNvPr id="19" name="Shape 17"/>
          <p:cNvSpPr/>
          <p:nvPr/>
        </p:nvSpPr>
        <p:spPr>
          <a:xfrm>
            <a:off x="4681728" y="3246120"/>
            <a:ext cx="4206240" cy="1600200"/>
          </a:xfrm>
          <a:prstGeom prst="rect">
            <a:avLst/>
          </a:prstGeom>
          <a:solidFill>
            <a:srgbClr val="122840"/>
          </a:solidFill>
          <a:ln w="10160">
            <a:solidFill>
              <a:srgbClr val="FF6B35"/>
            </a:solidFill>
            <a:prstDash val="solid"/>
          </a:ln>
        </p:spPr>
      </p:sp>
      <p:sp>
        <p:nvSpPr>
          <p:cNvPr id="20" name="Text 18"/>
          <p:cNvSpPr/>
          <p:nvPr/>
        </p:nvSpPr>
        <p:spPr>
          <a:xfrm>
            <a:off x="4681728" y="3520440"/>
            <a:ext cx="42062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1" name="Text 19"/>
          <p:cNvSpPr/>
          <p:nvPr/>
        </p:nvSpPr>
        <p:spPr>
          <a:xfrm>
            <a:off x="4681728" y="4114800"/>
            <a:ext cx="4206240" cy="274320"/>
          </a:xfrm>
          <a:prstGeom prst="rect">
            <a:avLst/>
          </a:prstGeom>
          <a:noFill/>
          <a:ln/>
        </p:spPr>
        <p:txBody>
          <a:bodyPr wrap="square" lIns="0" tIns="0" rIns="0" bIns="0" rtlCol="0" anchor="ctr"/>
          <a:lstStyle/>
          <a:p>
            <a:pPr marL="0" indent="0" algn="ctr">
              <a:buNone/>
            </a:pPr>
            <a:r>
              <a:rPr lang="en-US" sz="1100" b="1" dirty="0">
                <a:solidFill>
                  <a:srgbClr val="FF6B35"/>
                </a:solidFill>
              </a:rPr>
              <a:t>Screenshot 4</a:t>
            </a:r>
            <a:endParaRPr lang="en-US" sz="1100" dirty="0"/>
          </a:p>
        </p:txBody>
      </p:sp>
      <p:sp>
        <p:nvSpPr>
          <p:cNvPr id="22" name="Text 20"/>
          <p:cNvSpPr/>
          <p:nvPr/>
        </p:nvSpPr>
        <p:spPr>
          <a:xfrm>
            <a:off x="4681728" y="4416552"/>
            <a:ext cx="4206240" cy="347472"/>
          </a:xfrm>
          <a:prstGeom prst="rect">
            <a:avLst/>
          </a:prstGeom>
          <a:noFill/>
          <a:ln/>
        </p:spPr>
        <p:txBody>
          <a:bodyPr wrap="square" lIns="0" tIns="0" rIns="0" bIns="0" rtlCol="0" anchor="ctr"/>
          <a:lstStyle/>
          <a:p>
            <a:pPr marL="0" indent="0" algn="ctr">
              <a:buNone/>
            </a:pPr>
            <a:r>
              <a:rPr lang="en-US" sz="900" dirty="0">
                <a:solidFill>
                  <a:srgbClr val="CBD5E1"/>
                </a:solidFill>
              </a:rPr>
              <a:t>Final fixes → forgot password, budget, PetConnect name</a:t>
            </a:r>
            <a:endParaRPr lang="en-US" sz="900" dirty="0"/>
          </a:p>
        </p:txBody>
      </p:sp>
      <p:sp>
        <p:nvSpPr>
          <p:cNvPr id="23" name="Text 21"/>
          <p:cNvSpPr/>
          <p:nvPr/>
        </p:nvSpPr>
        <p:spPr>
          <a:xfrm>
            <a:off x="228600" y="4800600"/>
            <a:ext cx="8686800" cy="201168"/>
          </a:xfrm>
          <a:prstGeom prst="rect">
            <a:avLst/>
          </a:prstGeom>
          <a:noFill/>
          <a:ln/>
        </p:spPr>
        <p:txBody>
          <a:bodyPr wrap="square" lIns="0" tIns="0" rIns="0" bIns="0" rtlCol="0" anchor="ctr"/>
          <a:lstStyle/>
          <a:p>
            <a:pPr marL="0" indent="0" algn="ctr">
              <a:buNone/>
            </a:pPr>
            <a:r>
              <a:rPr lang="en-US" sz="800" i="1" dirty="0">
                <a:solidFill>
                  <a:srgbClr val="64748B"/>
                </a:solidFill>
              </a:rPr>
              <a:t>How to add screenshots: Open this file in PowerPoint → Insert → Pictures → select your claude.ai conversation screenshots.</a:t>
            </a:r>
            <a:endParaRPr lang="en-US" sz="800" dirty="0"/>
          </a:p>
        </p:txBody>
      </p:sp>
      <p:sp>
        <p:nvSpPr>
          <p:cNvPr id="24" name="Text 22"/>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11</a:t>
            </a:r>
            <a:endParaRPr lang="en-US" sz="900" dirty="0"/>
          </a:p>
        </p:txBody>
      </p:sp>
      <p:pic>
        <p:nvPicPr>
          <p:cNvPr id="26" name="Picture 25">
            <a:extLst>
              <a:ext uri="{FF2B5EF4-FFF2-40B4-BE49-F238E27FC236}">
                <a16:creationId xmlns:a16="http://schemas.microsoft.com/office/drawing/2014/main" id="{F7FEB80F-B78A-E528-D5CD-B23C90477386}"/>
              </a:ext>
            </a:extLst>
          </p:cNvPr>
          <p:cNvPicPr>
            <a:picLocks noChangeAspect="1"/>
          </p:cNvPicPr>
          <p:nvPr/>
        </p:nvPicPr>
        <p:blipFill>
          <a:blip r:embed="rId3"/>
          <a:stretch>
            <a:fillRect/>
          </a:stretch>
        </p:blipFill>
        <p:spPr>
          <a:xfrm>
            <a:off x="4681728" y="1376172"/>
            <a:ext cx="4206240" cy="1645675"/>
          </a:xfrm>
          <a:prstGeom prst="rect">
            <a:avLst/>
          </a:prstGeom>
        </p:spPr>
      </p:pic>
      <p:pic>
        <p:nvPicPr>
          <p:cNvPr id="28" name="Picture 27">
            <a:extLst>
              <a:ext uri="{FF2B5EF4-FFF2-40B4-BE49-F238E27FC236}">
                <a16:creationId xmlns:a16="http://schemas.microsoft.com/office/drawing/2014/main" id="{9BC8CBFA-EF93-7104-AE0D-A6328CE060E3}"/>
              </a:ext>
            </a:extLst>
          </p:cNvPr>
          <p:cNvPicPr>
            <a:picLocks noChangeAspect="1"/>
          </p:cNvPicPr>
          <p:nvPr/>
        </p:nvPicPr>
        <p:blipFill>
          <a:blip r:embed="rId4"/>
          <a:stretch>
            <a:fillRect/>
          </a:stretch>
        </p:blipFill>
        <p:spPr>
          <a:xfrm>
            <a:off x="228600" y="1463319"/>
            <a:ext cx="4206240" cy="1545057"/>
          </a:xfrm>
          <a:prstGeom prst="rect">
            <a:avLst/>
          </a:prstGeom>
        </p:spPr>
      </p:pic>
      <p:pic>
        <p:nvPicPr>
          <p:cNvPr id="30" name="Picture 29">
            <a:extLst>
              <a:ext uri="{FF2B5EF4-FFF2-40B4-BE49-F238E27FC236}">
                <a16:creationId xmlns:a16="http://schemas.microsoft.com/office/drawing/2014/main" id="{17BBB494-EF31-BFCA-A7E9-02BDFDED5400}"/>
              </a:ext>
            </a:extLst>
          </p:cNvPr>
          <p:cNvPicPr>
            <a:picLocks noChangeAspect="1"/>
          </p:cNvPicPr>
          <p:nvPr/>
        </p:nvPicPr>
        <p:blipFill>
          <a:blip r:embed="rId5"/>
          <a:stretch>
            <a:fillRect/>
          </a:stretch>
        </p:blipFill>
        <p:spPr>
          <a:xfrm>
            <a:off x="228600" y="3232404"/>
            <a:ext cx="4206240" cy="1613916"/>
          </a:xfrm>
          <a:prstGeom prst="rect">
            <a:avLst/>
          </a:prstGeom>
        </p:spPr>
      </p:pic>
      <p:pic>
        <p:nvPicPr>
          <p:cNvPr id="32" name="Picture 31">
            <a:extLst>
              <a:ext uri="{FF2B5EF4-FFF2-40B4-BE49-F238E27FC236}">
                <a16:creationId xmlns:a16="http://schemas.microsoft.com/office/drawing/2014/main" id="{24DAB060-3CCD-04D8-FCB3-3264BDBD3151}"/>
              </a:ext>
            </a:extLst>
          </p:cNvPr>
          <p:cNvPicPr>
            <a:picLocks noChangeAspect="1"/>
          </p:cNvPicPr>
          <p:nvPr/>
        </p:nvPicPr>
        <p:blipFill>
          <a:blip r:embed="rId6"/>
          <a:stretch>
            <a:fillRect/>
          </a:stretch>
        </p:blipFill>
        <p:spPr>
          <a:xfrm>
            <a:off x="4681728" y="3130088"/>
            <a:ext cx="4206240" cy="17291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Shape 1"/>
          <p:cNvSpPr/>
          <p:nvPr/>
        </p:nvSpPr>
        <p:spPr>
          <a:xfrm>
            <a:off x="0" y="5070348"/>
            <a:ext cx="9144000" cy="73152"/>
          </a:xfrm>
          <a:prstGeom prst="rect">
            <a:avLst/>
          </a:prstGeom>
          <a:solidFill>
            <a:srgbClr val="FF6B35"/>
          </a:solidFill>
          <a:ln w="12700">
            <a:solidFill>
              <a:srgbClr val="FF6B35"/>
            </a:solidFill>
            <a:prstDash val="solid"/>
          </a:ln>
        </p:spPr>
      </p:sp>
      <p:sp>
        <p:nvSpPr>
          <p:cNvPr id="4" name="Shape 2"/>
          <p:cNvSpPr/>
          <p:nvPr/>
        </p:nvSpPr>
        <p:spPr>
          <a:xfrm>
            <a:off x="320040" y="182880"/>
            <a:ext cx="1920240" cy="292608"/>
          </a:xfrm>
          <a:prstGeom prst="rect">
            <a:avLst/>
          </a:prstGeom>
          <a:solidFill>
            <a:srgbClr val="FF6B35"/>
          </a:solidFill>
          <a:ln w="12700">
            <a:solidFill>
              <a:srgbClr val="FF6B35"/>
            </a:solidFill>
            <a:prstDash val="solid"/>
          </a:ln>
        </p:spPr>
      </p:sp>
      <p:sp>
        <p:nvSpPr>
          <p:cNvPr id="5" name="Text 3"/>
          <p:cNvSpPr/>
          <p:nvPr/>
        </p:nvSpPr>
        <p:spPr>
          <a:xfrm>
            <a:off x="320040" y="182880"/>
            <a:ext cx="1920240" cy="292608"/>
          </a:xfrm>
          <a:prstGeom prst="rect">
            <a:avLst/>
          </a:prstGeom>
          <a:noFill/>
          <a:ln/>
        </p:spPr>
        <p:txBody>
          <a:bodyPr wrap="square" lIns="0" tIns="0" rIns="0" bIns="0" rtlCol="0" anchor="ctr"/>
          <a:lstStyle/>
          <a:p>
            <a:pPr marL="0" indent="0" algn="ctr">
              <a:buNone/>
            </a:pPr>
            <a:r>
              <a:rPr lang="en-US" sz="900" b="1" kern="0" spc="150" dirty="0">
                <a:solidFill>
                  <a:srgbClr val="FFFFFF"/>
                </a:solidFill>
              </a:rPr>
              <a:t>SLIDE 10  |  REFERENCES</a:t>
            </a:r>
            <a:endParaRPr lang="en-US" sz="900" dirty="0"/>
          </a:p>
        </p:txBody>
      </p:sp>
      <p:sp>
        <p:nvSpPr>
          <p:cNvPr id="6" name="Text 4"/>
          <p:cNvSpPr/>
          <p:nvPr/>
        </p:nvSpPr>
        <p:spPr>
          <a:xfrm>
            <a:off x="320040" y="594360"/>
            <a:ext cx="8503920" cy="749808"/>
          </a:xfrm>
          <a:prstGeom prst="rect">
            <a:avLst/>
          </a:prstGeom>
          <a:noFill/>
          <a:ln/>
        </p:spPr>
        <p:txBody>
          <a:bodyPr wrap="square" lIns="0" tIns="0" rIns="0" bIns="0" rtlCol="0" anchor="ctr"/>
          <a:lstStyle/>
          <a:p>
            <a:pPr marL="0" indent="0">
              <a:buNone/>
            </a:pPr>
            <a:r>
              <a:rPr lang="en-US" sz="4800" b="1" dirty="0">
                <a:solidFill>
                  <a:srgbClr val="0B1F3A"/>
                </a:solidFill>
                <a:latin typeface="Georgia" pitchFamily="34" charset="0"/>
                <a:ea typeface="Georgia" pitchFamily="34" charset="-122"/>
                <a:cs typeface="Georgia" pitchFamily="34" charset="-120"/>
              </a:rPr>
              <a:t>References</a:t>
            </a:r>
            <a:endParaRPr lang="en-US" sz="4800" dirty="0"/>
          </a:p>
        </p:txBody>
      </p:sp>
      <p:sp>
        <p:nvSpPr>
          <p:cNvPr id="7" name="Shape 5"/>
          <p:cNvSpPr/>
          <p:nvPr/>
        </p:nvSpPr>
        <p:spPr>
          <a:xfrm>
            <a:off x="320040" y="1444752"/>
            <a:ext cx="8503920" cy="502920"/>
          </a:xfrm>
          <a:prstGeom prst="rect">
            <a:avLst/>
          </a:prstGeom>
          <a:solidFill>
            <a:srgbClr val="FFFFFF"/>
          </a:solidFill>
          <a:ln w="5080">
            <a:solidFill>
              <a:srgbClr val="CBD5E1"/>
            </a:solidFill>
            <a:prstDash val="solid"/>
          </a:ln>
          <a:effectLst>
            <a:outerShdw blurRad="76200" dist="25400" dir="8100000" algn="bl" rotWithShape="0">
              <a:srgbClr val="000000">
                <a:alpha val="12000"/>
              </a:srgbClr>
            </a:outerShdw>
          </a:effectLst>
        </p:spPr>
      </p:sp>
      <p:sp>
        <p:nvSpPr>
          <p:cNvPr id="8" name="Shape 6"/>
          <p:cNvSpPr/>
          <p:nvPr/>
        </p:nvSpPr>
        <p:spPr>
          <a:xfrm>
            <a:off x="320040" y="1444752"/>
            <a:ext cx="64008" cy="502920"/>
          </a:xfrm>
          <a:prstGeom prst="rect">
            <a:avLst/>
          </a:prstGeom>
          <a:solidFill>
            <a:srgbClr val="FF6B35"/>
          </a:solidFill>
          <a:ln w="12700">
            <a:solidFill>
              <a:srgbClr val="FF6B35"/>
            </a:solidFill>
            <a:prstDash val="solid"/>
          </a:ln>
        </p:spPr>
      </p:sp>
      <p:sp>
        <p:nvSpPr>
          <p:cNvPr id="9" name="Text 7"/>
          <p:cNvSpPr/>
          <p:nvPr/>
        </p:nvSpPr>
        <p:spPr>
          <a:xfrm>
            <a:off x="475488" y="1490472"/>
            <a:ext cx="411480" cy="228600"/>
          </a:xfrm>
          <a:prstGeom prst="rect">
            <a:avLst/>
          </a:prstGeom>
          <a:noFill/>
          <a:ln/>
        </p:spPr>
        <p:txBody>
          <a:bodyPr wrap="square" lIns="0" tIns="0" rIns="0" bIns="0" rtlCol="0" anchor="ctr"/>
          <a:lstStyle/>
          <a:p>
            <a:pPr marL="0" indent="0">
              <a:buNone/>
            </a:pPr>
            <a:r>
              <a:rPr lang="en-US" sz="1100" b="1" dirty="0">
                <a:solidFill>
                  <a:srgbClr val="FF6B35"/>
                </a:solidFill>
              </a:rPr>
              <a:t>[1]</a:t>
            </a:r>
            <a:endParaRPr lang="en-US" sz="1100" dirty="0"/>
          </a:p>
        </p:txBody>
      </p:sp>
      <p:sp>
        <p:nvSpPr>
          <p:cNvPr id="10" name="Text 8"/>
          <p:cNvSpPr/>
          <p:nvPr/>
        </p:nvSpPr>
        <p:spPr>
          <a:xfrm>
            <a:off x="475488" y="1719072"/>
            <a:ext cx="731520" cy="182880"/>
          </a:xfrm>
          <a:prstGeom prst="rect">
            <a:avLst/>
          </a:prstGeom>
          <a:noFill/>
          <a:ln/>
        </p:spPr>
        <p:txBody>
          <a:bodyPr wrap="square" lIns="0" tIns="0" rIns="0" bIns="0" rtlCol="0" anchor="ctr"/>
          <a:lstStyle/>
          <a:p>
            <a:pPr marL="0" indent="0">
              <a:buNone/>
            </a:pPr>
            <a:r>
              <a:rPr lang="en-US" sz="800" i="1" dirty="0">
                <a:solidFill>
                  <a:srgbClr val="64748B"/>
                </a:solidFill>
              </a:rPr>
              <a:t>[AI Tool]</a:t>
            </a:r>
            <a:endParaRPr lang="en-US" sz="800" dirty="0"/>
          </a:p>
        </p:txBody>
      </p:sp>
      <p:sp>
        <p:nvSpPr>
          <p:cNvPr id="11" name="Text 9"/>
          <p:cNvSpPr/>
          <p:nvPr/>
        </p:nvSpPr>
        <p:spPr>
          <a:xfrm>
            <a:off x="1234440" y="1490472"/>
            <a:ext cx="5029200" cy="228600"/>
          </a:xfrm>
          <a:prstGeom prst="rect">
            <a:avLst/>
          </a:prstGeom>
          <a:noFill/>
          <a:ln/>
        </p:spPr>
        <p:txBody>
          <a:bodyPr wrap="square" lIns="0" tIns="0" rIns="0" bIns="0" rtlCol="0" anchor="ctr"/>
          <a:lstStyle/>
          <a:p>
            <a:pPr marL="0" indent="0">
              <a:buNone/>
            </a:pPr>
            <a:r>
              <a:rPr lang="en-US" sz="1200" b="1" dirty="0" err="1">
                <a:solidFill>
                  <a:srgbClr val="0B1F3A"/>
                </a:solidFill>
              </a:rPr>
              <a:t>Github</a:t>
            </a:r>
            <a:r>
              <a:rPr lang="en-US" sz="1200" b="1" dirty="0">
                <a:solidFill>
                  <a:srgbClr val="0B1F3A"/>
                </a:solidFill>
              </a:rPr>
              <a:t> copilot— Anthropic</a:t>
            </a:r>
            <a:endParaRPr lang="en-US" sz="1200" dirty="0"/>
          </a:p>
        </p:txBody>
      </p:sp>
      <p:sp>
        <p:nvSpPr>
          <p:cNvPr id="12" name="Text 10"/>
          <p:cNvSpPr/>
          <p:nvPr/>
        </p:nvSpPr>
        <p:spPr>
          <a:xfrm>
            <a:off x="1234440" y="1719072"/>
            <a:ext cx="4846320" cy="182880"/>
          </a:xfrm>
          <a:prstGeom prst="rect">
            <a:avLst/>
          </a:prstGeom>
          <a:noFill/>
          <a:ln/>
        </p:spPr>
        <p:txBody>
          <a:bodyPr wrap="square" lIns="0" tIns="0" rIns="0" bIns="0" rtlCol="0" anchor="ctr"/>
          <a:lstStyle/>
          <a:p>
            <a:pPr marL="0" indent="0">
              <a:buNone/>
            </a:pPr>
            <a:r>
              <a:rPr lang="en-US" sz="900" dirty="0">
                <a:solidFill>
                  <a:srgbClr val="64748B"/>
                </a:solidFill>
              </a:rPr>
              <a:t>Primary AI tool used to generate all code through prompt engineering.</a:t>
            </a:r>
            <a:endParaRPr lang="en-US" sz="900" dirty="0"/>
          </a:p>
        </p:txBody>
      </p:sp>
      <p:sp>
        <p:nvSpPr>
          <p:cNvPr id="13" name="Text 11"/>
          <p:cNvSpPr/>
          <p:nvPr/>
        </p:nvSpPr>
        <p:spPr>
          <a:xfrm>
            <a:off x="6583680" y="1536192"/>
            <a:ext cx="2103120" cy="274320"/>
          </a:xfrm>
          <a:prstGeom prst="rect">
            <a:avLst/>
          </a:prstGeom>
          <a:noFill/>
          <a:ln/>
        </p:spPr>
        <p:txBody>
          <a:bodyPr wrap="square" lIns="0" tIns="0" rIns="0" bIns="0" rtlCol="0" anchor="ctr"/>
          <a:lstStyle/>
          <a:p>
            <a:pPr marL="0" indent="0" algn="r">
              <a:buNone/>
            </a:pPr>
            <a:r>
              <a:rPr lang="en-US" sz="900" i="1" dirty="0">
                <a:solidFill>
                  <a:srgbClr val="0097A7"/>
                </a:solidFill>
              </a:rPr>
              <a:t>https://claude.ai</a:t>
            </a:r>
            <a:endParaRPr lang="en-US" sz="900" dirty="0"/>
          </a:p>
        </p:txBody>
      </p:sp>
      <p:sp>
        <p:nvSpPr>
          <p:cNvPr id="14" name="Shape 12"/>
          <p:cNvSpPr/>
          <p:nvPr/>
        </p:nvSpPr>
        <p:spPr>
          <a:xfrm>
            <a:off x="320040" y="2011680"/>
            <a:ext cx="8503920" cy="502920"/>
          </a:xfrm>
          <a:prstGeom prst="rect">
            <a:avLst/>
          </a:prstGeom>
          <a:solidFill>
            <a:srgbClr val="FFFFFF"/>
          </a:solidFill>
          <a:ln w="5080">
            <a:solidFill>
              <a:srgbClr val="CBD5E1"/>
            </a:solidFill>
            <a:prstDash val="solid"/>
          </a:ln>
          <a:effectLst>
            <a:outerShdw blurRad="76200" dist="25400" dir="8100000" algn="bl" rotWithShape="0">
              <a:srgbClr val="000000">
                <a:alpha val="12000"/>
              </a:srgbClr>
            </a:outerShdw>
          </a:effectLst>
        </p:spPr>
      </p:sp>
      <p:sp>
        <p:nvSpPr>
          <p:cNvPr id="15" name="Shape 13"/>
          <p:cNvSpPr/>
          <p:nvPr/>
        </p:nvSpPr>
        <p:spPr>
          <a:xfrm>
            <a:off x="320040" y="2011680"/>
            <a:ext cx="64008" cy="502920"/>
          </a:xfrm>
          <a:prstGeom prst="rect">
            <a:avLst/>
          </a:prstGeom>
          <a:solidFill>
            <a:srgbClr val="0097A7"/>
          </a:solidFill>
          <a:ln w="12700">
            <a:solidFill>
              <a:srgbClr val="0097A7"/>
            </a:solidFill>
            <a:prstDash val="solid"/>
          </a:ln>
        </p:spPr>
      </p:sp>
      <p:sp>
        <p:nvSpPr>
          <p:cNvPr id="16" name="Text 14"/>
          <p:cNvSpPr/>
          <p:nvPr/>
        </p:nvSpPr>
        <p:spPr>
          <a:xfrm>
            <a:off x="475488" y="2057400"/>
            <a:ext cx="411480" cy="228600"/>
          </a:xfrm>
          <a:prstGeom prst="rect">
            <a:avLst/>
          </a:prstGeom>
          <a:noFill/>
          <a:ln/>
        </p:spPr>
        <p:txBody>
          <a:bodyPr wrap="square" lIns="0" tIns="0" rIns="0" bIns="0" rtlCol="0" anchor="ctr"/>
          <a:lstStyle/>
          <a:p>
            <a:pPr marL="0" indent="0">
              <a:buNone/>
            </a:pPr>
            <a:r>
              <a:rPr lang="en-US" sz="1100" b="1" dirty="0">
                <a:solidFill>
                  <a:srgbClr val="0097A7"/>
                </a:solidFill>
              </a:rPr>
              <a:t>[2]</a:t>
            </a:r>
            <a:endParaRPr lang="en-US" sz="1100" dirty="0"/>
          </a:p>
        </p:txBody>
      </p:sp>
      <p:sp>
        <p:nvSpPr>
          <p:cNvPr id="17" name="Text 15"/>
          <p:cNvSpPr/>
          <p:nvPr/>
        </p:nvSpPr>
        <p:spPr>
          <a:xfrm>
            <a:off x="475488" y="2286000"/>
            <a:ext cx="731520" cy="182880"/>
          </a:xfrm>
          <a:prstGeom prst="rect">
            <a:avLst/>
          </a:prstGeom>
          <a:noFill/>
          <a:ln/>
        </p:spPr>
        <p:txBody>
          <a:bodyPr wrap="square" lIns="0" tIns="0" rIns="0" bIns="0" rtlCol="0" anchor="ctr"/>
          <a:lstStyle/>
          <a:p>
            <a:pPr marL="0" indent="0">
              <a:buNone/>
            </a:pPr>
            <a:r>
              <a:rPr lang="en-US" sz="800" i="1" dirty="0">
                <a:solidFill>
                  <a:srgbClr val="64748B"/>
                </a:solidFill>
              </a:rPr>
              <a:t>[Backend]</a:t>
            </a:r>
            <a:endParaRPr lang="en-US" sz="800" dirty="0"/>
          </a:p>
        </p:txBody>
      </p:sp>
      <p:sp>
        <p:nvSpPr>
          <p:cNvPr id="18" name="Text 16"/>
          <p:cNvSpPr/>
          <p:nvPr/>
        </p:nvSpPr>
        <p:spPr>
          <a:xfrm>
            <a:off x="1234440" y="2057400"/>
            <a:ext cx="5029200" cy="228600"/>
          </a:xfrm>
          <a:prstGeom prst="rect">
            <a:avLst/>
          </a:prstGeom>
          <a:noFill/>
          <a:ln/>
        </p:spPr>
        <p:txBody>
          <a:bodyPr wrap="square" lIns="0" tIns="0" rIns="0" bIns="0" rtlCol="0" anchor="ctr"/>
          <a:lstStyle/>
          <a:p>
            <a:pPr marL="0" indent="0">
              <a:buNone/>
            </a:pPr>
            <a:r>
              <a:rPr lang="en-US" sz="1200" b="1" dirty="0">
                <a:solidFill>
                  <a:srgbClr val="0B1F3A"/>
                </a:solidFill>
              </a:rPr>
              <a:t>Node.js Official Documentation</a:t>
            </a:r>
            <a:endParaRPr lang="en-US" sz="1200" dirty="0"/>
          </a:p>
        </p:txBody>
      </p:sp>
      <p:sp>
        <p:nvSpPr>
          <p:cNvPr id="19" name="Text 17"/>
          <p:cNvSpPr/>
          <p:nvPr/>
        </p:nvSpPr>
        <p:spPr>
          <a:xfrm>
            <a:off x="1234440" y="2286000"/>
            <a:ext cx="4846320" cy="182880"/>
          </a:xfrm>
          <a:prstGeom prst="rect">
            <a:avLst/>
          </a:prstGeom>
          <a:noFill/>
          <a:ln/>
        </p:spPr>
        <p:txBody>
          <a:bodyPr wrap="square" lIns="0" tIns="0" rIns="0" bIns="0" rtlCol="0" anchor="ctr"/>
          <a:lstStyle/>
          <a:p>
            <a:pPr marL="0" indent="0">
              <a:buNone/>
            </a:pPr>
            <a:r>
              <a:rPr lang="en-US" sz="900" dirty="0">
                <a:solidFill>
                  <a:srgbClr val="64748B"/>
                </a:solidFill>
              </a:rPr>
              <a:t>Runtime and Express.js framework used for server and API routes.</a:t>
            </a:r>
            <a:endParaRPr lang="en-US" sz="900" dirty="0"/>
          </a:p>
        </p:txBody>
      </p:sp>
      <p:sp>
        <p:nvSpPr>
          <p:cNvPr id="20" name="Text 18"/>
          <p:cNvSpPr/>
          <p:nvPr/>
        </p:nvSpPr>
        <p:spPr>
          <a:xfrm>
            <a:off x="6583680" y="2103120"/>
            <a:ext cx="2103120" cy="274320"/>
          </a:xfrm>
          <a:prstGeom prst="rect">
            <a:avLst/>
          </a:prstGeom>
          <a:noFill/>
          <a:ln/>
        </p:spPr>
        <p:txBody>
          <a:bodyPr wrap="square" lIns="0" tIns="0" rIns="0" bIns="0" rtlCol="0" anchor="ctr"/>
          <a:lstStyle/>
          <a:p>
            <a:pPr marL="0" indent="0" algn="r">
              <a:buNone/>
            </a:pPr>
            <a:r>
              <a:rPr lang="en-US" sz="900" i="1" dirty="0">
                <a:solidFill>
                  <a:srgbClr val="0097A7"/>
                </a:solidFill>
              </a:rPr>
              <a:t>https://nodejs.org</a:t>
            </a:r>
            <a:endParaRPr lang="en-US" sz="900" dirty="0"/>
          </a:p>
        </p:txBody>
      </p:sp>
      <p:sp>
        <p:nvSpPr>
          <p:cNvPr id="21" name="Shape 19"/>
          <p:cNvSpPr/>
          <p:nvPr/>
        </p:nvSpPr>
        <p:spPr>
          <a:xfrm>
            <a:off x="320040" y="2578608"/>
            <a:ext cx="8503920" cy="502920"/>
          </a:xfrm>
          <a:prstGeom prst="rect">
            <a:avLst/>
          </a:prstGeom>
          <a:solidFill>
            <a:srgbClr val="FFFFFF"/>
          </a:solidFill>
          <a:ln w="5080">
            <a:solidFill>
              <a:srgbClr val="CBD5E1"/>
            </a:solidFill>
            <a:prstDash val="solid"/>
          </a:ln>
          <a:effectLst>
            <a:outerShdw blurRad="76200" dist="25400" dir="8100000" algn="bl" rotWithShape="0">
              <a:srgbClr val="000000">
                <a:alpha val="12000"/>
              </a:srgbClr>
            </a:outerShdw>
          </a:effectLst>
        </p:spPr>
      </p:sp>
      <p:sp>
        <p:nvSpPr>
          <p:cNvPr id="22" name="Shape 20"/>
          <p:cNvSpPr/>
          <p:nvPr/>
        </p:nvSpPr>
        <p:spPr>
          <a:xfrm>
            <a:off x="320040" y="2578608"/>
            <a:ext cx="64008" cy="502920"/>
          </a:xfrm>
          <a:prstGeom prst="rect">
            <a:avLst/>
          </a:prstGeom>
          <a:solidFill>
            <a:srgbClr val="00C9A7"/>
          </a:solidFill>
          <a:ln w="12700">
            <a:solidFill>
              <a:srgbClr val="00C9A7"/>
            </a:solidFill>
            <a:prstDash val="solid"/>
          </a:ln>
        </p:spPr>
      </p:sp>
      <p:sp>
        <p:nvSpPr>
          <p:cNvPr id="23" name="Text 21"/>
          <p:cNvSpPr/>
          <p:nvPr/>
        </p:nvSpPr>
        <p:spPr>
          <a:xfrm>
            <a:off x="475488" y="2624328"/>
            <a:ext cx="411480" cy="228600"/>
          </a:xfrm>
          <a:prstGeom prst="rect">
            <a:avLst/>
          </a:prstGeom>
          <a:noFill/>
          <a:ln/>
        </p:spPr>
        <p:txBody>
          <a:bodyPr wrap="square" lIns="0" tIns="0" rIns="0" bIns="0" rtlCol="0" anchor="ctr"/>
          <a:lstStyle/>
          <a:p>
            <a:pPr marL="0" indent="0">
              <a:buNone/>
            </a:pPr>
            <a:r>
              <a:rPr lang="en-US" sz="1100" b="1" dirty="0">
                <a:solidFill>
                  <a:srgbClr val="00C9A7"/>
                </a:solidFill>
              </a:rPr>
              <a:t>[3]</a:t>
            </a:r>
            <a:endParaRPr lang="en-US" sz="1100" dirty="0"/>
          </a:p>
        </p:txBody>
      </p:sp>
      <p:sp>
        <p:nvSpPr>
          <p:cNvPr id="24" name="Text 22"/>
          <p:cNvSpPr/>
          <p:nvPr/>
        </p:nvSpPr>
        <p:spPr>
          <a:xfrm>
            <a:off x="475488" y="2852928"/>
            <a:ext cx="731520" cy="182880"/>
          </a:xfrm>
          <a:prstGeom prst="rect">
            <a:avLst/>
          </a:prstGeom>
          <a:noFill/>
          <a:ln/>
        </p:spPr>
        <p:txBody>
          <a:bodyPr wrap="square" lIns="0" tIns="0" rIns="0" bIns="0" rtlCol="0" anchor="ctr"/>
          <a:lstStyle/>
          <a:p>
            <a:pPr marL="0" indent="0">
              <a:buNone/>
            </a:pPr>
            <a:r>
              <a:rPr lang="en-US" sz="800" i="1" dirty="0">
                <a:solidFill>
                  <a:srgbClr val="64748B"/>
                </a:solidFill>
              </a:rPr>
              <a:t>[Database]</a:t>
            </a:r>
            <a:endParaRPr lang="en-US" sz="800" dirty="0"/>
          </a:p>
        </p:txBody>
      </p:sp>
      <p:sp>
        <p:nvSpPr>
          <p:cNvPr id="25" name="Text 23"/>
          <p:cNvSpPr/>
          <p:nvPr/>
        </p:nvSpPr>
        <p:spPr>
          <a:xfrm>
            <a:off x="1234440" y="2624328"/>
            <a:ext cx="5029200" cy="228600"/>
          </a:xfrm>
          <a:prstGeom prst="rect">
            <a:avLst/>
          </a:prstGeom>
          <a:noFill/>
          <a:ln/>
        </p:spPr>
        <p:txBody>
          <a:bodyPr wrap="square" lIns="0" tIns="0" rIns="0" bIns="0" rtlCol="0" anchor="ctr"/>
          <a:lstStyle/>
          <a:p>
            <a:pPr marL="0" indent="0">
              <a:buNone/>
            </a:pPr>
            <a:r>
              <a:rPr lang="en-US" sz="1200" b="1" dirty="0">
                <a:solidFill>
                  <a:srgbClr val="0B1F3A"/>
                </a:solidFill>
              </a:rPr>
              <a:t>MongoDB &amp; Mongoose Docs</a:t>
            </a:r>
            <a:endParaRPr lang="en-US" sz="1200" dirty="0"/>
          </a:p>
        </p:txBody>
      </p:sp>
      <p:sp>
        <p:nvSpPr>
          <p:cNvPr id="26" name="Text 24"/>
          <p:cNvSpPr/>
          <p:nvPr/>
        </p:nvSpPr>
        <p:spPr>
          <a:xfrm>
            <a:off x="1234440" y="2852928"/>
            <a:ext cx="4846320" cy="182880"/>
          </a:xfrm>
          <a:prstGeom prst="rect">
            <a:avLst/>
          </a:prstGeom>
          <a:noFill/>
          <a:ln/>
        </p:spPr>
        <p:txBody>
          <a:bodyPr wrap="square" lIns="0" tIns="0" rIns="0" bIns="0" rtlCol="0" anchor="ctr"/>
          <a:lstStyle/>
          <a:p>
            <a:pPr marL="0" indent="0">
              <a:buNone/>
            </a:pPr>
            <a:r>
              <a:rPr lang="en-US" sz="900" dirty="0">
                <a:solidFill>
                  <a:srgbClr val="64748B"/>
                </a:solidFill>
              </a:rPr>
              <a:t>NoSQL database and ODM for User, Listing, and Message models.</a:t>
            </a:r>
            <a:endParaRPr lang="en-US" sz="900" dirty="0"/>
          </a:p>
        </p:txBody>
      </p:sp>
      <p:sp>
        <p:nvSpPr>
          <p:cNvPr id="27" name="Text 25"/>
          <p:cNvSpPr/>
          <p:nvPr/>
        </p:nvSpPr>
        <p:spPr>
          <a:xfrm>
            <a:off x="6583680" y="2670048"/>
            <a:ext cx="2103120" cy="274320"/>
          </a:xfrm>
          <a:prstGeom prst="rect">
            <a:avLst/>
          </a:prstGeom>
          <a:noFill/>
          <a:ln/>
        </p:spPr>
        <p:txBody>
          <a:bodyPr wrap="square" lIns="0" tIns="0" rIns="0" bIns="0" rtlCol="0" anchor="ctr"/>
          <a:lstStyle/>
          <a:p>
            <a:pPr marL="0" indent="0" algn="r">
              <a:buNone/>
            </a:pPr>
            <a:r>
              <a:rPr lang="en-US" sz="900" i="1" dirty="0">
                <a:solidFill>
                  <a:srgbClr val="0097A7"/>
                </a:solidFill>
              </a:rPr>
              <a:t>https://mongodb.com</a:t>
            </a:r>
            <a:endParaRPr lang="en-US" sz="900" dirty="0"/>
          </a:p>
        </p:txBody>
      </p:sp>
      <p:sp>
        <p:nvSpPr>
          <p:cNvPr id="28" name="Shape 26"/>
          <p:cNvSpPr/>
          <p:nvPr/>
        </p:nvSpPr>
        <p:spPr>
          <a:xfrm>
            <a:off x="320040" y="3145536"/>
            <a:ext cx="8503920" cy="502920"/>
          </a:xfrm>
          <a:prstGeom prst="rect">
            <a:avLst/>
          </a:prstGeom>
          <a:solidFill>
            <a:srgbClr val="FFFFFF"/>
          </a:solidFill>
          <a:ln w="5080">
            <a:solidFill>
              <a:srgbClr val="CBD5E1"/>
            </a:solidFill>
            <a:prstDash val="solid"/>
          </a:ln>
          <a:effectLst>
            <a:outerShdw blurRad="76200" dist="25400" dir="8100000" algn="bl" rotWithShape="0">
              <a:srgbClr val="000000">
                <a:alpha val="12000"/>
              </a:srgbClr>
            </a:outerShdw>
          </a:effectLst>
        </p:spPr>
      </p:sp>
      <p:sp>
        <p:nvSpPr>
          <p:cNvPr id="29" name="Shape 27"/>
          <p:cNvSpPr/>
          <p:nvPr/>
        </p:nvSpPr>
        <p:spPr>
          <a:xfrm>
            <a:off x="320040" y="3145536"/>
            <a:ext cx="64008" cy="502920"/>
          </a:xfrm>
          <a:prstGeom prst="rect">
            <a:avLst/>
          </a:prstGeom>
          <a:solidFill>
            <a:srgbClr val="2196F3"/>
          </a:solidFill>
          <a:ln w="12700">
            <a:solidFill>
              <a:srgbClr val="2196F3"/>
            </a:solidFill>
            <a:prstDash val="solid"/>
          </a:ln>
        </p:spPr>
      </p:sp>
      <p:sp>
        <p:nvSpPr>
          <p:cNvPr id="30" name="Text 28"/>
          <p:cNvSpPr/>
          <p:nvPr/>
        </p:nvSpPr>
        <p:spPr>
          <a:xfrm>
            <a:off x="475488" y="3191256"/>
            <a:ext cx="411480" cy="228600"/>
          </a:xfrm>
          <a:prstGeom prst="rect">
            <a:avLst/>
          </a:prstGeom>
          <a:noFill/>
          <a:ln/>
        </p:spPr>
        <p:txBody>
          <a:bodyPr wrap="square" lIns="0" tIns="0" rIns="0" bIns="0" rtlCol="0" anchor="ctr"/>
          <a:lstStyle/>
          <a:p>
            <a:pPr marL="0" indent="0">
              <a:buNone/>
            </a:pPr>
            <a:r>
              <a:rPr lang="en-US" sz="1100" b="1" dirty="0">
                <a:solidFill>
                  <a:srgbClr val="2196F3"/>
                </a:solidFill>
              </a:rPr>
              <a:t>[4]</a:t>
            </a:r>
            <a:endParaRPr lang="en-US" sz="1100" dirty="0"/>
          </a:p>
        </p:txBody>
      </p:sp>
      <p:sp>
        <p:nvSpPr>
          <p:cNvPr id="31" name="Text 29"/>
          <p:cNvSpPr/>
          <p:nvPr/>
        </p:nvSpPr>
        <p:spPr>
          <a:xfrm>
            <a:off x="475488" y="3419856"/>
            <a:ext cx="731520" cy="182880"/>
          </a:xfrm>
          <a:prstGeom prst="rect">
            <a:avLst/>
          </a:prstGeom>
          <a:noFill/>
          <a:ln/>
        </p:spPr>
        <p:txBody>
          <a:bodyPr wrap="square" lIns="0" tIns="0" rIns="0" bIns="0" rtlCol="0" anchor="ctr"/>
          <a:lstStyle/>
          <a:p>
            <a:pPr marL="0" indent="0">
              <a:buNone/>
            </a:pPr>
            <a:r>
              <a:rPr lang="en-US" sz="800" i="1" dirty="0">
                <a:solidFill>
                  <a:srgbClr val="64748B"/>
                </a:solidFill>
              </a:rPr>
              <a:t>[Frontend]</a:t>
            </a:r>
            <a:endParaRPr lang="en-US" sz="800" dirty="0"/>
          </a:p>
        </p:txBody>
      </p:sp>
      <p:sp>
        <p:nvSpPr>
          <p:cNvPr id="32" name="Text 30"/>
          <p:cNvSpPr/>
          <p:nvPr/>
        </p:nvSpPr>
        <p:spPr>
          <a:xfrm>
            <a:off x="1234440" y="3191256"/>
            <a:ext cx="5029200" cy="228600"/>
          </a:xfrm>
          <a:prstGeom prst="rect">
            <a:avLst/>
          </a:prstGeom>
          <a:noFill/>
          <a:ln/>
        </p:spPr>
        <p:txBody>
          <a:bodyPr wrap="square" lIns="0" tIns="0" rIns="0" bIns="0" rtlCol="0" anchor="ctr"/>
          <a:lstStyle/>
          <a:p>
            <a:pPr marL="0" indent="0">
              <a:buNone/>
            </a:pPr>
            <a:r>
              <a:rPr lang="en-US" sz="1200" b="1" dirty="0">
                <a:solidFill>
                  <a:srgbClr val="0B1F3A"/>
                </a:solidFill>
              </a:rPr>
              <a:t>EJS Templating Engine</a:t>
            </a:r>
            <a:endParaRPr lang="en-US" sz="1200" dirty="0"/>
          </a:p>
        </p:txBody>
      </p:sp>
      <p:sp>
        <p:nvSpPr>
          <p:cNvPr id="33" name="Text 31"/>
          <p:cNvSpPr/>
          <p:nvPr/>
        </p:nvSpPr>
        <p:spPr>
          <a:xfrm>
            <a:off x="1234440" y="3419856"/>
            <a:ext cx="4846320" cy="182880"/>
          </a:xfrm>
          <a:prstGeom prst="rect">
            <a:avLst/>
          </a:prstGeom>
          <a:noFill/>
          <a:ln/>
        </p:spPr>
        <p:txBody>
          <a:bodyPr wrap="square" lIns="0" tIns="0" rIns="0" bIns="0" rtlCol="0" anchor="ctr"/>
          <a:lstStyle/>
          <a:p>
            <a:pPr marL="0" indent="0">
              <a:buNone/>
            </a:pPr>
            <a:r>
              <a:rPr lang="en-US" sz="900" dirty="0">
                <a:solidFill>
                  <a:srgbClr val="64748B"/>
                </a:solidFill>
              </a:rPr>
              <a:t>Server-side templating used to render dynamic HTML pages.</a:t>
            </a:r>
            <a:endParaRPr lang="en-US" sz="900" dirty="0"/>
          </a:p>
        </p:txBody>
      </p:sp>
      <p:sp>
        <p:nvSpPr>
          <p:cNvPr id="34" name="Text 32"/>
          <p:cNvSpPr/>
          <p:nvPr/>
        </p:nvSpPr>
        <p:spPr>
          <a:xfrm>
            <a:off x="6583680" y="3236976"/>
            <a:ext cx="2103120" cy="274320"/>
          </a:xfrm>
          <a:prstGeom prst="rect">
            <a:avLst/>
          </a:prstGeom>
          <a:noFill/>
          <a:ln/>
        </p:spPr>
        <p:txBody>
          <a:bodyPr wrap="square" lIns="0" tIns="0" rIns="0" bIns="0" rtlCol="0" anchor="ctr"/>
          <a:lstStyle/>
          <a:p>
            <a:pPr marL="0" indent="0" algn="r">
              <a:buNone/>
            </a:pPr>
            <a:r>
              <a:rPr lang="en-US" sz="900" i="1" dirty="0">
                <a:solidFill>
                  <a:srgbClr val="0097A7"/>
                </a:solidFill>
              </a:rPr>
              <a:t>https://ejs.co</a:t>
            </a:r>
            <a:endParaRPr lang="en-US" sz="900" dirty="0"/>
          </a:p>
        </p:txBody>
      </p:sp>
      <p:sp>
        <p:nvSpPr>
          <p:cNvPr id="35" name="Shape 33"/>
          <p:cNvSpPr/>
          <p:nvPr/>
        </p:nvSpPr>
        <p:spPr>
          <a:xfrm>
            <a:off x="320040" y="3712464"/>
            <a:ext cx="8503920" cy="502920"/>
          </a:xfrm>
          <a:prstGeom prst="rect">
            <a:avLst/>
          </a:prstGeom>
          <a:solidFill>
            <a:srgbClr val="FFFFFF"/>
          </a:solidFill>
          <a:ln w="5080">
            <a:solidFill>
              <a:srgbClr val="CBD5E1"/>
            </a:solidFill>
            <a:prstDash val="solid"/>
          </a:ln>
          <a:effectLst>
            <a:outerShdw blurRad="76200" dist="25400" dir="8100000" algn="bl" rotWithShape="0">
              <a:srgbClr val="000000">
                <a:alpha val="12000"/>
              </a:srgbClr>
            </a:outerShdw>
          </a:effectLst>
        </p:spPr>
      </p:sp>
      <p:sp>
        <p:nvSpPr>
          <p:cNvPr id="36" name="Shape 34"/>
          <p:cNvSpPr/>
          <p:nvPr/>
        </p:nvSpPr>
        <p:spPr>
          <a:xfrm>
            <a:off x="320040" y="3712464"/>
            <a:ext cx="64008" cy="502920"/>
          </a:xfrm>
          <a:prstGeom prst="rect">
            <a:avLst/>
          </a:prstGeom>
          <a:solidFill>
            <a:srgbClr val="7C4DFF"/>
          </a:solidFill>
          <a:ln w="12700">
            <a:solidFill>
              <a:srgbClr val="7C4DFF"/>
            </a:solidFill>
            <a:prstDash val="solid"/>
          </a:ln>
        </p:spPr>
      </p:sp>
      <p:sp>
        <p:nvSpPr>
          <p:cNvPr id="37" name="Text 35"/>
          <p:cNvSpPr/>
          <p:nvPr/>
        </p:nvSpPr>
        <p:spPr>
          <a:xfrm>
            <a:off x="475488" y="3758184"/>
            <a:ext cx="411480" cy="228600"/>
          </a:xfrm>
          <a:prstGeom prst="rect">
            <a:avLst/>
          </a:prstGeom>
          <a:noFill/>
          <a:ln/>
        </p:spPr>
        <p:txBody>
          <a:bodyPr wrap="square" lIns="0" tIns="0" rIns="0" bIns="0" rtlCol="0" anchor="ctr"/>
          <a:lstStyle/>
          <a:p>
            <a:pPr marL="0" indent="0">
              <a:buNone/>
            </a:pPr>
            <a:r>
              <a:rPr lang="en-US" sz="1100" b="1" dirty="0">
                <a:solidFill>
                  <a:srgbClr val="7C4DFF"/>
                </a:solidFill>
              </a:rPr>
              <a:t>[5]</a:t>
            </a:r>
            <a:endParaRPr lang="en-US" sz="1100" dirty="0"/>
          </a:p>
        </p:txBody>
      </p:sp>
      <p:sp>
        <p:nvSpPr>
          <p:cNvPr id="38" name="Text 36"/>
          <p:cNvSpPr/>
          <p:nvPr/>
        </p:nvSpPr>
        <p:spPr>
          <a:xfrm>
            <a:off x="475488" y="3986784"/>
            <a:ext cx="731520" cy="182880"/>
          </a:xfrm>
          <a:prstGeom prst="rect">
            <a:avLst/>
          </a:prstGeom>
          <a:noFill/>
          <a:ln/>
        </p:spPr>
        <p:txBody>
          <a:bodyPr wrap="square" lIns="0" tIns="0" rIns="0" bIns="0" rtlCol="0" anchor="ctr"/>
          <a:lstStyle/>
          <a:p>
            <a:pPr marL="0" indent="0">
              <a:buNone/>
            </a:pPr>
            <a:r>
              <a:rPr lang="en-US" sz="800" i="1" dirty="0">
                <a:solidFill>
                  <a:srgbClr val="64748B"/>
                </a:solidFill>
              </a:rPr>
              <a:t>[Design]</a:t>
            </a:r>
            <a:endParaRPr lang="en-US" sz="800" dirty="0"/>
          </a:p>
        </p:txBody>
      </p:sp>
      <p:sp>
        <p:nvSpPr>
          <p:cNvPr id="39" name="Text 37"/>
          <p:cNvSpPr/>
          <p:nvPr/>
        </p:nvSpPr>
        <p:spPr>
          <a:xfrm>
            <a:off x="1234440" y="3758184"/>
            <a:ext cx="5029200" cy="228600"/>
          </a:xfrm>
          <a:prstGeom prst="rect">
            <a:avLst/>
          </a:prstGeom>
          <a:noFill/>
          <a:ln/>
        </p:spPr>
        <p:txBody>
          <a:bodyPr wrap="square" lIns="0" tIns="0" rIns="0" bIns="0" rtlCol="0" anchor="ctr"/>
          <a:lstStyle/>
          <a:p>
            <a:pPr marL="0" indent="0">
              <a:buNone/>
            </a:pPr>
            <a:r>
              <a:rPr lang="en-US" sz="1200" b="1" dirty="0">
                <a:solidFill>
                  <a:srgbClr val="0B1F3A"/>
                </a:solidFill>
              </a:rPr>
              <a:t>Google Fonts</a:t>
            </a:r>
            <a:endParaRPr lang="en-US" sz="1200" dirty="0"/>
          </a:p>
        </p:txBody>
      </p:sp>
      <p:sp>
        <p:nvSpPr>
          <p:cNvPr id="40" name="Text 38"/>
          <p:cNvSpPr/>
          <p:nvPr/>
        </p:nvSpPr>
        <p:spPr>
          <a:xfrm>
            <a:off x="1234440" y="3986784"/>
            <a:ext cx="4846320" cy="182880"/>
          </a:xfrm>
          <a:prstGeom prst="rect">
            <a:avLst/>
          </a:prstGeom>
          <a:noFill/>
          <a:ln/>
        </p:spPr>
        <p:txBody>
          <a:bodyPr wrap="square" lIns="0" tIns="0" rIns="0" bIns="0" rtlCol="0" anchor="ctr"/>
          <a:lstStyle/>
          <a:p>
            <a:pPr marL="0" indent="0">
              <a:buNone/>
            </a:pPr>
            <a:r>
              <a:rPr lang="en-US" sz="900" dirty="0">
                <a:solidFill>
                  <a:srgbClr val="64748B"/>
                </a:solidFill>
              </a:rPr>
              <a:t>Inter and Poppins fonts used throughout the PetConnect UI.</a:t>
            </a:r>
            <a:endParaRPr lang="en-US" sz="900" dirty="0"/>
          </a:p>
        </p:txBody>
      </p:sp>
      <p:sp>
        <p:nvSpPr>
          <p:cNvPr id="41" name="Text 39"/>
          <p:cNvSpPr/>
          <p:nvPr/>
        </p:nvSpPr>
        <p:spPr>
          <a:xfrm>
            <a:off x="6583680" y="3803904"/>
            <a:ext cx="2103120" cy="274320"/>
          </a:xfrm>
          <a:prstGeom prst="rect">
            <a:avLst/>
          </a:prstGeom>
          <a:noFill/>
          <a:ln/>
        </p:spPr>
        <p:txBody>
          <a:bodyPr wrap="square" lIns="0" tIns="0" rIns="0" bIns="0" rtlCol="0" anchor="ctr"/>
          <a:lstStyle/>
          <a:p>
            <a:pPr marL="0" indent="0" algn="r">
              <a:buNone/>
            </a:pPr>
            <a:r>
              <a:rPr lang="en-US" sz="900" i="1" dirty="0">
                <a:solidFill>
                  <a:srgbClr val="0097A7"/>
                </a:solidFill>
              </a:rPr>
              <a:t>https://fonts.google.com</a:t>
            </a:r>
            <a:endParaRPr lang="en-US" sz="900" dirty="0"/>
          </a:p>
        </p:txBody>
      </p:sp>
      <p:sp>
        <p:nvSpPr>
          <p:cNvPr id="42" name="Shape 40"/>
          <p:cNvSpPr/>
          <p:nvPr/>
        </p:nvSpPr>
        <p:spPr>
          <a:xfrm>
            <a:off x="320040" y="4279392"/>
            <a:ext cx="8503920" cy="502920"/>
          </a:xfrm>
          <a:prstGeom prst="rect">
            <a:avLst/>
          </a:prstGeom>
          <a:solidFill>
            <a:srgbClr val="FFFFFF"/>
          </a:solidFill>
          <a:ln w="5080">
            <a:solidFill>
              <a:srgbClr val="CBD5E1"/>
            </a:solidFill>
            <a:prstDash val="solid"/>
          </a:ln>
          <a:effectLst>
            <a:outerShdw blurRad="76200" dist="25400" dir="8100000" algn="bl" rotWithShape="0">
              <a:srgbClr val="000000">
                <a:alpha val="12000"/>
              </a:srgbClr>
            </a:outerShdw>
          </a:effectLst>
        </p:spPr>
      </p:sp>
      <p:sp>
        <p:nvSpPr>
          <p:cNvPr id="43" name="Shape 41"/>
          <p:cNvSpPr/>
          <p:nvPr/>
        </p:nvSpPr>
        <p:spPr>
          <a:xfrm>
            <a:off x="320040" y="4279392"/>
            <a:ext cx="64008" cy="502920"/>
          </a:xfrm>
          <a:prstGeom prst="rect">
            <a:avLst/>
          </a:prstGeom>
          <a:solidFill>
            <a:srgbClr val="64748B"/>
          </a:solidFill>
          <a:ln w="12700">
            <a:solidFill>
              <a:srgbClr val="64748B"/>
            </a:solidFill>
            <a:prstDash val="solid"/>
          </a:ln>
        </p:spPr>
      </p:sp>
      <p:sp>
        <p:nvSpPr>
          <p:cNvPr id="44" name="Text 42"/>
          <p:cNvSpPr/>
          <p:nvPr/>
        </p:nvSpPr>
        <p:spPr>
          <a:xfrm>
            <a:off x="475488" y="4325112"/>
            <a:ext cx="411480" cy="228600"/>
          </a:xfrm>
          <a:prstGeom prst="rect">
            <a:avLst/>
          </a:prstGeom>
          <a:noFill/>
          <a:ln/>
        </p:spPr>
        <p:txBody>
          <a:bodyPr wrap="square" lIns="0" tIns="0" rIns="0" bIns="0" rtlCol="0" anchor="ctr"/>
          <a:lstStyle/>
          <a:p>
            <a:pPr marL="0" indent="0">
              <a:buNone/>
            </a:pPr>
            <a:r>
              <a:rPr lang="en-US" sz="1100" b="1" dirty="0">
                <a:solidFill>
                  <a:srgbClr val="64748B"/>
                </a:solidFill>
              </a:rPr>
              <a:t>[6]</a:t>
            </a:r>
            <a:endParaRPr lang="en-US" sz="1100" dirty="0"/>
          </a:p>
        </p:txBody>
      </p:sp>
      <p:sp>
        <p:nvSpPr>
          <p:cNvPr id="45" name="Text 43"/>
          <p:cNvSpPr/>
          <p:nvPr/>
        </p:nvSpPr>
        <p:spPr>
          <a:xfrm>
            <a:off x="475488" y="4553712"/>
            <a:ext cx="731520" cy="182880"/>
          </a:xfrm>
          <a:prstGeom prst="rect">
            <a:avLst/>
          </a:prstGeom>
          <a:noFill/>
          <a:ln/>
        </p:spPr>
        <p:txBody>
          <a:bodyPr wrap="square" lIns="0" tIns="0" rIns="0" bIns="0" rtlCol="0" anchor="ctr"/>
          <a:lstStyle/>
          <a:p>
            <a:pPr marL="0" indent="0">
              <a:buNone/>
            </a:pPr>
            <a:r>
              <a:rPr lang="en-US" sz="800" i="1" dirty="0">
                <a:solidFill>
                  <a:srgbClr val="64748B"/>
                </a:solidFill>
              </a:rPr>
              <a:t>[Reference]</a:t>
            </a:r>
            <a:endParaRPr lang="en-US" sz="800" dirty="0"/>
          </a:p>
        </p:txBody>
      </p:sp>
      <p:sp>
        <p:nvSpPr>
          <p:cNvPr id="46" name="Text 44"/>
          <p:cNvSpPr/>
          <p:nvPr/>
        </p:nvSpPr>
        <p:spPr>
          <a:xfrm>
            <a:off x="1234440" y="4325112"/>
            <a:ext cx="5029200" cy="228600"/>
          </a:xfrm>
          <a:prstGeom prst="rect">
            <a:avLst/>
          </a:prstGeom>
          <a:noFill/>
          <a:ln/>
        </p:spPr>
        <p:txBody>
          <a:bodyPr wrap="square" lIns="0" tIns="0" rIns="0" bIns="0" rtlCol="0" anchor="ctr"/>
          <a:lstStyle/>
          <a:p>
            <a:pPr marL="0" indent="0">
              <a:buNone/>
            </a:pPr>
            <a:r>
              <a:rPr lang="en-US" sz="1200" b="1" dirty="0">
                <a:solidFill>
                  <a:srgbClr val="0B1F3A"/>
                </a:solidFill>
              </a:rPr>
              <a:t>OLX India</a:t>
            </a:r>
            <a:endParaRPr lang="en-US" sz="1200" dirty="0"/>
          </a:p>
        </p:txBody>
      </p:sp>
      <p:sp>
        <p:nvSpPr>
          <p:cNvPr id="47" name="Text 45"/>
          <p:cNvSpPr/>
          <p:nvPr/>
        </p:nvSpPr>
        <p:spPr>
          <a:xfrm>
            <a:off x="1234440" y="4553712"/>
            <a:ext cx="4846320" cy="182880"/>
          </a:xfrm>
          <a:prstGeom prst="rect">
            <a:avLst/>
          </a:prstGeom>
          <a:noFill/>
          <a:ln/>
        </p:spPr>
        <p:txBody>
          <a:bodyPr wrap="square" lIns="0" tIns="0" rIns="0" bIns="0" rtlCol="0" anchor="ctr"/>
          <a:lstStyle/>
          <a:p>
            <a:pPr marL="0" indent="0">
              <a:buNone/>
            </a:pPr>
            <a:r>
              <a:rPr lang="en-US" sz="900" dirty="0">
                <a:solidFill>
                  <a:srgbClr val="64748B"/>
                </a:solidFill>
              </a:rPr>
              <a:t>Inspiration for marketplace features, UI patterns, and user experience.</a:t>
            </a:r>
            <a:endParaRPr lang="en-US" sz="900" dirty="0"/>
          </a:p>
        </p:txBody>
      </p:sp>
      <p:sp>
        <p:nvSpPr>
          <p:cNvPr id="48" name="Text 46"/>
          <p:cNvSpPr/>
          <p:nvPr/>
        </p:nvSpPr>
        <p:spPr>
          <a:xfrm>
            <a:off x="6583680" y="4370832"/>
            <a:ext cx="2103120" cy="274320"/>
          </a:xfrm>
          <a:prstGeom prst="rect">
            <a:avLst/>
          </a:prstGeom>
          <a:noFill/>
          <a:ln/>
        </p:spPr>
        <p:txBody>
          <a:bodyPr wrap="square" lIns="0" tIns="0" rIns="0" bIns="0" rtlCol="0" anchor="ctr"/>
          <a:lstStyle/>
          <a:p>
            <a:pPr marL="0" indent="0" algn="r">
              <a:buNone/>
            </a:pPr>
            <a:r>
              <a:rPr lang="en-US" sz="900" i="1" dirty="0">
                <a:solidFill>
                  <a:srgbClr val="0097A7"/>
                </a:solidFill>
              </a:rPr>
              <a:t>https://olx.in</a:t>
            </a:r>
            <a:endParaRPr lang="en-US" sz="900" dirty="0"/>
          </a:p>
        </p:txBody>
      </p:sp>
      <p:sp>
        <p:nvSpPr>
          <p:cNvPr id="49" name="Text 47"/>
          <p:cNvSpPr/>
          <p:nvPr/>
        </p:nvSpPr>
        <p:spPr>
          <a:xfrm>
            <a:off x="8595360" y="4892040"/>
            <a:ext cx="457200" cy="228600"/>
          </a:xfrm>
          <a:prstGeom prst="rect">
            <a:avLst/>
          </a:prstGeom>
          <a:noFill/>
          <a:ln/>
        </p:spPr>
        <p:txBody>
          <a:bodyPr wrap="square" lIns="0" tIns="0" rIns="0" bIns="0" rtlCol="0" anchor="ctr"/>
          <a:lstStyle/>
          <a:p>
            <a:pPr marL="0" indent="0" algn="r">
              <a:buNone/>
            </a:pPr>
            <a:r>
              <a:rPr lang="en-US" sz="900" dirty="0">
                <a:solidFill>
                  <a:srgbClr val="64748B"/>
                </a:solidFill>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6B35"/>
          </a:solidFill>
          <a:ln w="12700">
            <a:solidFill>
              <a:srgbClr val="FF6B35"/>
            </a:solidFill>
            <a:prstDash val="solid"/>
          </a:ln>
        </p:spPr>
      </p:sp>
      <p:sp>
        <p:nvSpPr>
          <p:cNvPr id="3" name="Shape 1"/>
          <p:cNvSpPr/>
          <p:nvPr/>
        </p:nvSpPr>
        <p:spPr>
          <a:xfrm>
            <a:off x="5943600" y="1371600"/>
            <a:ext cx="4114800" cy="4114800"/>
          </a:xfrm>
          <a:prstGeom prst="ellipse">
            <a:avLst/>
          </a:prstGeom>
          <a:solidFill>
            <a:srgbClr val="0097A7">
              <a:alpha val="10000"/>
            </a:srgbClr>
          </a:solidFill>
          <a:ln w="12700">
            <a:solidFill>
              <a:srgbClr val="0097A7">
                <a:alpha val="10000"/>
              </a:srgbClr>
            </a:solidFill>
            <a:prstDash val="solid"/>
          </a:ln>
        </p:spPr>
      </p:sp>
      <p:sp>
        <p:nvSpPr>
          <p:cNvPr id="4" name="Shape 2"/>
          <p:cNvSpPr/>
          <p:nvPr/>
        </p:nvSpPr>
        <p:spPr>
          <a:xfrm>
            <a:off x="6583680" y="2011680"/>
            <a:ext cx="2743200" cy="2743200"/>
          </a:xfrm>
          <a:prstGeom prst="ellipse">
            <a:avLst/>
          </a:prstGeom>
          <a:solidFill>
            <a:srgbClr val="FF6B35">
              <a:alpha val="12000"/>
            </a:srgbClr>
          </a:solidFill>
          <a:ln w="12700">
            <a:solidFill>
              <a:srgbClr val="FF6B35">
                <a:alpha val="12000"/>
              </a:srgbClr>
            </a:solidFill>
            <a:prstDash val="solid"/>
          </a:ln>
        </p:spPr>
      </p:sp>
      <p:sp>
        <p:nvSpPr>
          <p:cNvPr id="5" name="Text 3"/>
          <p:cNvSpPr/>
          <p:nvPr/>
        </p:nvSpPr>
        <p:spPr>
          <a:xfrm>
            <a:off x="411480" y="1097280"/>
            <a:ext cx="6400800" cy="1371600"/>
          </a:xfrm>
          <a:prstGeom prst="rect">
            <a:avLst/>
          </a:prstGeom>
          <a:noFill/>
          <a:ln/>
        </p:spPr>
        <p:txBody>
          <a:bodyPr wrap="square" lIns="0" tIns="0" rIns="0" bIns="0" rtlCol="0" anchor="ctr"/>
          <a:lstStyle/>
          <a:p>
            <a:pPr marL="0" indent="0">
              <a:buNone/>
            </a:pPr>
            <a:r>
              <a:rPr lang="en-US" sz="7200" b="1" dirty="0">
                <a:solidFill>
                  <a:srgbClr val="FFFFFF"/>
                </a:solidFill>
                <a:latin typeface="Georgia" pitchFamily="34" charset="0"/>
                <a:ea typeface="Georgia" pitchFamily="34" charset="-122"/>
                <a:cs typeface="Georgia" pitchFamily="34" charset="-120"/>
              </a:rPr>
              <a:t>Thank You</a:t>
            </a:r>
            <a:endParaRPr lang="en-US" sz="7200" dirty="0"/>
          </a:p>
        </p:txBody>
      </p:sp>
      <p:sp>
        <p:nvSpPr>
          <p:cNvPr id="6" name="Shape 4"/>
          <p:cNvSpPr/>
          <p:nvPr/>
        </p:nvSpPr>
        <p:spPr>
          <a:xfrm>
            <a:off x="411480" y="2542032"/>
            <a:ext cx="4572000" cy="54864"/>
          </a:xfrm>
          <a:prstGeom prst="rect">
            <a:avLst/>
          </a:prstGeom>
          <a:solidFill>
            <a:srgbClr val="FF6B35"/>
          </a:solidFill>
          <a:ln w="12700">
            <a:solidFill>
              <a:srgbClr val="FF6B35"/>
            </a:solidFill>
            <a:prstDash val="solid"/>
          </a:ln>
        </p:spPr>
      </p:sp>
      <p:sp>
        <p:nvSpPr>
          <p:cNvPr id="7" name="Text 5"/>
          <p:cNvSpPr/>
          <p:nvPr/>
        </p:nvSpPr>
        <p:spPr>
          <a:xfrm>
            <a:off x="411480" y="2697480"/>
            <a:ext cx="6400800" cy="365760"/>
          </a:xfrm>
          <a:prstGeom prst="rect">
            <a:avLst/>
          </a:prstGeom>
          <a:noFill/>
          <a:ln/>
        </p:spPr>
        <p:txBody>
          <a:bodyPr wrap="square" lIns="0" tIns="0" rIns="0" bIns="0" rtlCol="0" anchor="ctr"/>
          <a:lstStyle/>
          <a:p>
            <a:pPr marL="0" indent="0">
              <a:buNone/>
            </a:pPr>
            <a:r>
              <a:rPr lang="en-US" sz="1500" i="1" dirty="0">
                <a:solidFill>
                  <a:srgbClr val="00C9A7"/>
                </a:solidFill>
              </a:rPr>
              <a:t>PetConnect  ·  Pet Adoption &amp; Marketplace</a:t>
            </a:r>
            <a:endParaRPr lang="en-US" sz="1500" dirty="0"/>
          </a:p>
        </p:txBody>
      </p:sp>
      <p:sp>
        <p:nvSpPr>
          <p:cNvPr id="8" name="Text 6"/>
          <p:cNvSpPr/>
          <p:nvPr/>
        </p:nvSpPr>
        <p:spPr>
          <a:xfrm>
            <a:off x="411480" y="3127248"/>
            <a:ext cx="6400800" cy="320040"/>
          </a:xfrm>
          <a:prstGeom prst="rect">
            <a:avLst/>
          </a:prstGeom>
          <a:noFill/>
          <a:ln/>
        </p:spPr>
        <p:txBody>
          <a:bodyPr wrap="square" lIns="0" tIns="0" rIns="0" bIns="0" rtlCol="0" anchor="ctr"/>
          <a:lstStyle/>
          <a:p>
            <a:pPr marL="0" indent="0">
              <a:buNone/>
            </a:pPr>
            <a:r>
              <a:rPr lang="en-US" sz="1200" dirty="0">
                <a:solidFill>
                  <a:srgbClr val="CBD5E1"/>
                </a:solidFill>
              </a:rPr>
              <a:t>Node.js  ·  MongoDB  ·  Express  ·  EJS  ·  </a:t>
            </a:r>
            <a:r>
              <a:rPr lang="en-US" sz="1200" dirty="0" err="1">
                <a:solidFill>
                  <a:srgbClr val="CBD5E1"/>
                </a:solidFill>
              </a:rPr>
              <a:t>github</a:t>
            </a:r>
            <a:endParaRPr lang="en-US" sz="1200" dirty="0"/>
          </a:p>
        </p:txBody>
      </p:sp>
      <p:sp>
        <p:nvSpPr>
          <p:cNvPr id="9" name="Text 7"/>
          <p:cNvSpPr/>
          <p:nvPr/>
        </p:nvSpPr>
        <p:spPr>
          <a:xfrm>
            <a:off x="411480" y="3584448"/>
            <a:ext cx="4572000" cy="320040"/>
          </a:xfrm>
          <a:prstGeom prst="rect">
            <a:avLst/>
          </a:prstGeom>
          <a:noFill/>
          <a:ln/>
        </p:spPr>
        <p:txBody>
          <a:bodyPr wrap="square" lIns="0" tIns="0" rIns="0" bIns="0" rtlCol="0" anchor="ctr"/>
          <a:lstStyle/>
          <a:p>
            <a:pPr marL="0" indent="0">
              <a:buNone/>
            </a:pPr>
            <a:r>
              <a:rPr lang="en-US" sz="1300" dirty="0">
                <a:solidFill>
                  <a:srgbClr val="FF6B35"/>
                </a:solidFill>
              </a:rPr>
              <a:t>http://localhost:3000</a:t>
            </a:r>
            <a:endParaRPr lang="en-US" sz="1300" dirty="0"/>
          </a:p>
        </p:txBody>
      </p:sp>
      <p:sp>
        <p:nvSpPr>
          <p:cNvPr id="10" name="Text 8"/>
          <p:cNvSpPr/>
          <p:nvPr/>
        </p:nvSpPr>
        <p:spPr>
          <a:xfrm>
            <a:off x="411480" y="4069080"/>
            <a:ext cx="6400800" cy="320040"/>
          </a:xfrm>
          <a:prstGeom prst="rect">
            <a:avLst/>
          </a:prstGeom>
          <a:noFill/>
          <a:ln/>
        </p:spPr>
        <p:txBody>
          <a:bodyPr wrap="square" lIns="0" tIns="0" rIns="0" bIns="0" rtlCol="0" anchor="ctr"/>
          <a:lstStyle/>
          <a:p>
            <a:pPr marL="0" indent="0">
              <a:buNone/>
            </a:pPr>
            <a:r>
              <a:rPr lang="en-US" sz="1200" dirty="0">
                <a:solidFill>
                  <a:srgbClr val="CBD5E1"/>
                </a:solidFill>
              </a:rPr>
              <a:t>[</a:t>
            </a:r>
            <a:r>
              <a:rPr lang="en-US" sz="1200" dirty="0" err="1">
                <a:solidFill>
                  <a:srgbClr val="CBD5E1"/>
                </a:solidFill>
              </a:rPr>
              <a:t>K.shiva</a:t>
            </a:r>
            <a:r>
              <a:rPr lang="en-US" sz="1200" dirty="0">
                <a:solidFill>
                  <a:srgbClr val="CBD5E1"/>
                </a:solidFill>
              </a:rPr>
              <a:t>]  ·  Department of Computer Science</a:t>
            </a:r>
            <a:endParaRPr lang="en-US" sz="1200" dirty="0"/>
          </a:p>
        </p:txBody>
      </p:sp>
      <p:sp>
        <p:nvSpPr>
          <p:cNvPr id="12" name="Text 10"/>
          <p:cNvSpPr/>
          <p:nvPr/>
        </p:nvSpPr>
        <p:spPr>
          <a:xfrm>
            <a:off x="0" y="4818888"/>
            <a:ext cx="9144000" cy="324612"/>
          </a:xfrm>
          <a:prstGeom prst="rect">
            <a:avLst/>
          </a:prstGeom>
          <a:noFill/>
          <a:ln/>
        </p:spPr>
        <p:txBody>
          <a:bodyPr wrap="square" lIns="0" tIns="0" rIns="0" bIns="0" rtlCol="0" anchor="ctr"/>
          <a:lstStyle/>
          <a:p>
            <a:pPr marL="0" indent="0" algn="ctr">
              <a:buNone/>
            </a:pP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1564</Words>
  <Application>Microsoft Office PowerPoint</Application>
  <PresentationFormat>On-screen Show (16:9)</PresentationFormat>
  <Paragraphs>275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PetConnect — Pet Adoption &amp; Marketplace</dc:title>
  <dc:subject>PptxGenJS Presentation</dc:subject>
  <dc:creator>PptxGenJS</dc:creator>
  <cp:lastModifiedBy>indu lavdiya</cp:lastModifiedBy>
  <cp:revision>3</cp:revision>
  <dcterms:created xsi:type="dcterms:W3CDTF">2026-04-13T15:52:01Z</dcterms:created>
  <dcterms:modified xsi:type="dcterms:W3CDTF">2026-04-15T06:16:58Z</dcterms:modified>
</cp:coreProperties>
</file>